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2"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0729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C3F7"/>
          </a:solidFill>
          <a:ln w="12700">
            <a:solidFill>
              <a:srgbClr val="4FC3F7"/>
            </a:solidFill>
            <a:prstDash val="solid"/>
          </a:ln>
        </p:spPr>
      </p:sp>
      <p:sp>
        <p:nvSpPr>
          <p:cNvPr id="3" name="Shape 1"/>
          <p:cNvSpPr/>
          <p:nvPr/>
        </p:nvSpPr>
        <p:spPr>
          <a:xfrm>
            <a:off x="6858000" y="-365760"/>
            <a:ext cx="3200400" cy="3200400"/>
          </a:xfrm>
          <a:prstGeom prst="ellipse">
            <a:avLst/>
          </a:prstGeom>
          <a:solidFill>
            <a:srgbClr val="243080">
              <a:alpha val="50000"/>
            </a:srgbClr>
          </a:solidFill>
          <a:ln w="12700">
            <a:solidFill>
              <a:srgbClr val="243080">
                <a:alpha val="50000"/>
              </a:srgbClr>
            </a:solidFill>
            <a:prstDash val="solid"/>
          </a:ln>
        </p:spPr>
      </p:sp>
      <p:sp>
        <p:nvSpPr>
          <p:cNvPr id="4" name="Shape 2"/>
          <p:cNvSpPr/>
          <p:nvPr/>
        </p:nvSpPr>
        <p:spPr>
          <a:xfrm>
            <a:off x="7498080" y="2926080"/>
            <a:ext cx="2011680" cy="2011680"/>
          </a:xfrm>
          <a:prstGeom prst="ellipse">
            <a:avLst/>
          </a:prstGeom>
          <a:solidFill>
            <a:srgbClr val="243080">
              <a:alpha val="50000"/>
            </a:srgbClr>
          </a:solidFill>
          <a:ln w="12700">
            <a:solidFill>
              <a:srgbClr val="243080">
                <a:alpha val="50000"/>
              </a:srgbClr>
            </a:solidFill>
            <a:prstDash val="solid"/>
          </a:ln>
        </p:spPr>
      </p:sp>
      <p:sp>
        <p:nvSpPr>
          <p:cNvPr id="5" name="Text 3"/>
          <p:cNvSpPr/>
          <p:nvPr/>
        </p:nvSpPr>
        <p:spPr>
          <a:xfrm>
            <a:off x="411480" y="640080"/>
            <a:ext cx="6400800" cy="365760"/>
          </a:xfrm>
          <a:prstGeom prst="rect">
            <a:avLst/>
          </a:prstGeom>
          <a:noFill/>
          <a:ln/>
        </p:spPr>
        <p:txBody>
          <a:bodyPr wrap="square" rtlCol="0" anchor="ctr"/>
          <a:lstStyle/>
          <a:p>
            <a:pPr marL="0" indent="0">
              <a:buNone/>
            </a:pPr>
            <a:r>
              <a:rPr lang="en-US" sz="1100" b="1" kern="0" spc="400" dirty="0">
                <a:solidFill>
                  <a:srgbClr val="4FC3F7"/>
                </a:solidFill>
              </a:rPr>
              <a:t>PROPOSAL &amp; ACTION PLAN</a:t>
            </a:r>
            <a:endParaRPr lang="en-US" sz="1100" dirty="0"/>
          </a:p>
        </p:txBody>
      </p:sp>
      <p:sp>
        <p:nvSpPr>
          <p:cNvPr id="6" name="Text 4"/>
          <p:cNvSpPr/>
          <p:nvPr/>
        </p:nvSpPr>
        <p:spPr>
          <a:xfrm>
            <a:off x="411480" y="1005840"/>
            <a:ext cx="7772400" cy="2011680"/>
          </a:xfrm>
          <a:prstGeom prst="rect">
            <a:avLst/>
          </a:prstGeom>
          <a:noFill/>
          <a:ln/>
        </p:spPr>
        <p:txBody>
          <a:bodyPr wrap="square" rtlCol="0" anchor="t"/>
          <a:lstStyle/>
          <a:p>
            <a:pPr marL="0" indent="0">
              <a:buNone/>
            </a:pPr>
            <a:r>
              <a:rPr lang="en-US" sz="4800" b="1" dirty="0">
                <a:solidFill>
                  <a:srgbClr val="FFFFFF"/>
                </a:solidFill>
              </a:rPr>
              <a:t>New Software</a:t>
            </a:r>
            <a:endParaRPr lang="en-US" sz="4800" dirty="0"/>
          </a:p>
          <a:p>
            <a:pPr marL="0" indent="0">
              <a:buNone/>
            </a:pPr>
            <a:r>
              <a:rPr lang="en-US" sz="4800" b="1" dirty="0">
                <a:solidFill>
                  <a:srgbClr val="FFFFFF"/>
                </a:solidFill>
              </a:rPr>
              <a:t>Implementation</a:t>
            </a:r>
            <a:endParaRPr lang="en-US" sz="4800" dirty="0"/>
          </a:p>
        </p:txBody>
      </p:sp>
      <p:sp>
        <p:nvSpPr>
          <p:cNvPr id="7" name="Text 5"/>
          <p:cNvSpPr/>
          <p:nvPr/>
        </p:nvSpPr>
        <p:spPr>
          <a:xfrm>
            <a:off x="411480" y="3063240"/>
            <a:ext cx="6858000" cy="731520"/>
          </a:xfrm>
          <a:prstGeom prst="rect">
            <a:avLst/>
          </a:prstGeom>
          <a:noFill/>
          <a:ln/>
        </p:spPr>
        <p:txBody>
          <a:bodyPr wrap="square" rtlCol="0" anchor="ctr"/>
          <a:lstStyle/>
          <a:p>
            <a:pPr marL="0" indent="0">
              <a:buNone/>
            </a:pPr>
            <a:r>
              <a:rPr lang="en-US" sz="1500" i="1" dirty="0">
                <a:solidFill>
                  <a:srgbClr val="CADCFC"/>
                </a:solidFill>
              </a:rPr>
              <a:t>A structured 4-week plan to ensure smooth transition</a:t>
            </a:r>
            <a:endParaRPr lang="en-US" sz="1500" dirty="0"/>
          </a:p>
          <a:p>
            <a:pPr marL="0" indent="0">
              <a:buNone/>
            </a:pPr>
            <a:r>
              <a:rPr lang="en-US" sz="1500" i="1" dirty="0">
                <a:solidFill>
                  <a:srgbClr val="CADCFC"/>
                </a:solidFill>
              </a:rPr>
              <a:t>and company-wide adoption</a:t>
            </a:r>
            <a:endParaRPr lang="en-US" sz="1500" dirty="0"/>
          </a:p>
        </p:txBody>
      </p:sp>
      <p:sp>
        <p:nvSpPr>
          <p:cNvPr id="8" name="Shape 6"/>
          <p:cNvSpPr/>
          <p:nvPr/>
        </p:nvSpPr>
        <p:spPr>
          <a:xfrm>
            <a:off x="0" y="4663440"/>
            <a:ext cx="9144000" cy="480060"/>
          </a:xfrm>
          <a:prstGeom prst="rect">
            <a:avLst/>
          </a:prstGeom>
          <a:solidFill>
            <a:srgbClr val="162055"/>
          </a:solidFill>
          <a:ln w="12700">
            <a:solidFill>
              <a:srgbClr val="162055"/>
            </a:solidFill>
            <a:prstDash val="solid"/>
          </a:ln>
        </p:spPr>
      </p:sp>
      <p:sp>
        <p:nvSpPr>
          <p:cNvPr id="9" name="Text 7"/>
          <p:cNvSpPr/>
          <p:nvPr/>
        </p:nvSpPr>
        <p:spPr>
          <a:xfrm>
            <a:off x="411480" y="4690872"/>
            <a:ext cx="8229600" cy="411480"/>
          </a:xfrm>
          <a:prstGeom prst="rect">
            <a:avLst/>
          </a:prstGeom>
          <a:noFill/>
          <a:ln/>
        </p:spPr>
        <p:txBody>
          <a:bodyPr wrap="square" rtlCol="0" anchor="ctr"/>
          <a:lstStyle/>
          <a:p>
            <a:pPr marL="0" indent="0">
              <a:buNone/>
            </a:pPr>
            <a:r>
              <a:rPr lang="en-US" sz="1100" dirty="0">
                <a:solidFill>
                  <a:srgbClr val="8A9ACC"/>
                </a:solidFill>
              </a:rPr>
              <a:t>Scenario 4  |  All Departments  |  Duration: 4 Weeks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600" b="1" dirty="0">
                <a:solidFill>
                  <a:srgbClr val="FFFFFF"/>
                </a:solidFill>
              </a:rPr>
              <a:t>Executive Summary</a:t>
            </a:r>
            <a:endParaRPr lang="en-US" sz="2600" dirty="0"/>
          </a:p>
        </p:txBody>
      </p:sp>
      <p:sp>
        <p:nvSpPr>
          <p:cNvPr id="4" name="Shape 2"/>
          <p:cNvSpPr/>
          <p:nvPr/>
        </p:nvSpPr>
        <p:spPr>
          <a:xfrm>
            <a:off x="365760" y="960120"/>
            <a:ext cx="8412480" cy="3291840"/>
          </a:xfrm>
          <a:prstGeom prst="rect">
            <a:avLst/>
          </a:prstGeom>
          <a:solidFill>
            <a:srgbClr val="FFFFFF"/>
          </a:solidFill>
          <a:ln w="6350">
            <a:solidFill>
              <a:srgbClr val="D0D8F0"/>
            </a:solidFill>
            <a:prstDash val="solid"/>
          </a:ln>
        </p:spPr>
      </p:sp>
      <p:sp>
        <p:nvSpPr>
          <p:cNvPr id="5" name="Shape 3"/>
          <p:cNvSpPr/>
          <p:nvPr/>
        </p:nvSpPr>
        <p:spPr>
          <a:xfrm>
            <a:off x="365760" y="960120"/>
            <a:ext cx="109728" cy="3291840"/>
          </a:xfrm>
          <a:prstGeom prst="rect">
            <a:avLst/>
          </a:prstGeom>
          <a:solidFill>
            <a:srgbClr val="4FC3F7"/>
          </a:solidFill>
          <a:ln w="12700">
            <a:solidFill>
              <a:srgbClr val="4FC3F7"/>
            </a:solidFill>
            <a:prstDash val="solid"/>
          </a:ln>
        </p:spPr>
      </p:sp>
      <p:sp>
        <p:nvSpPr>
          <p:cNvPr id="6" name="Text 4"/>
          <p:cNvSpPr/>
          <p:nvPr/>
        </p:nvSpPr>
        <p:spPr>
          <a:xfrm>
            <a:off x="594360" y="1097280"/>
            <a:ext cx="8046720" cy="411480"/>
          </a:xfrm>
          <a:prstGeom prst="rect">
            <a:avLst/>
          </a:prstGeom>
          <a:noFill/>
          <a:ln/>
        </p:spPr>
        <p:txBody>
          <a:bodyPr wrap="square" rtlCol="0" anchor="ctr"/>
          <a:lstStyle/>
          <a:p>
            <a:pPr marL="0" indent="0">
              <a:buNone/>
            </a:pPr>
            <a:r>
              <a:rPr lang="en-US" sz="1800" b="1" dirty="0">
                <a:solidFill>
                  <a:srgbClr val="1A1F4B"/>
                </a:solidFill>
              </a:rPr>
              <a:t>About This Proposal</a:t>
            </a:r>
            <a:endParaRPr lang="en-US" sz="1800" dirty="0"/>
          </a:p>
        </p:txBody>
      </p:sp>
      <p:sp>
        <p:nvSpPr>
          <p:cNvPr id="7" name="Text 5"/>
          <p:cNvSpPr/>
          <p:nvPr/>
        </p:nvSpPr>
        <p:spPr>
          <a:xfrm>
            <a:off x="594360" y="1554480"/>
            <a:ext cx="7955280" cy="2560320"/>
          </a:xfrm>
          <a:prstGeom prst="rect">
            <a:avLst/>
          </a:prstGeom>
          <a:noFill/>
          <a:ln/>
        </p:spPr>
        <p:txBody>
          <a:bodyPr wrap="square" rtlCol="0" anchor="ctr"/>
          <a:lstStyle/>
          <a:p>
            <a:pPr marL="0" indent="0">
              <a:lnSpc>
                <a:spcPct val="135000"/>
              </a:lnSpc>
              <a:buNone/>
            </a:pPr>
            <a:r>
              <a:rPr lang="en-US" sz="1350" dirty="0">
                <a:solidFill>
                  <a:srgbClr val="374070"/>
                </a:solidFill>
              </a:rPr>
              <a:t>This proposal outlines a structured 4-week approach to rolling out new project management software across all departments. The plan is designed to maximise adoption, reduce disruption, and ensure every team member is confident using the system from day one.</a:t>
            </a:r>
            <a:endParaRPr lang="en-US" sz="1350" dirty="0"/>
          </a:p>
          <a:p>
            <a:pPr marL="0" indent="0">
              <a:lnSpc>
                <a:spcPct val="135000"/>
              </a:lnSpc>
              <a:buNone/>
            </a:pPr>
            <a:endParaRPr lang="en-US" sz="1350" dirty="0"/>
          </a:p>
          <a:p>
            <a:pPr marL="0" indent="0">
              <a:lnSpc>
                <a:spcPct val="135000"/>
              </a:lnSpc>
              <a:buNone/>
            </a:pPr>
            <a:r>
              <a:rPr lang="en-US" sz="1350" dirty="0">
                <a:solidFill>
                  <a:srgbClr val="374070"/>
                </a:solidFill>
              </a:rPr>
              <a:t>The implementation is divided into four clear phases: Evaluation &amp; Setup, Installation &amp; Configuration, Training, and Go-Live &amp; Monitoring. Each phase has defined tasks, owners, and measurable outcomes.</a:t>
            </a:r>
            <a:endParaRPr lang="en-US" sz="1350" dirty="0"/>
          </a:p>
          <a:p>
            <a:pPr marL="0" indent="0">
              <a:lnSpc>
                <a:spcPct val="135000"/>
              </a:lnSpc>
              <a:buNone/>
            </a:pPr>
            <a:endParaRPr lang="en-US" sz="1350" dirty="0"/>
          </a:p>
          <a:p>
            <a:pPr marL="0" indent="0">
              <a:lnSpc>
                <a:spcPct val="135000"/>
              </a:lnSpc>
              <a:buNone/>
            </a:pPr>
            <a:r>
              <a:rPr lang="en-US" sz="1350" dirty="0">
                <a:solidFill>
                  <a:srgbClr val="374070"/>
                </a:solidFill>
              </a:rPr>
              <a:t>Success will be measured through adoption rates, training completion, support responsiveness, and employee satisfaction scores.</a:t>
            </a:r>
            <a:endParaRPr lang="en-US" sz="1350" dirty="0"/>
          </a:p>
        </p:txBody>
      </p:sp>
      <p:sp>
        <p:nvSpPr>
          <p:cNvPr id="8" name="Shape 6"/>
          <p:cNvSpPr/>
          <p:nvPr/>
        </p:nvSpPr>
        <p:spPr>
          <a:xfrm>
            <a:off x="365760" y="4480560"/>
            <a:ext cx="2651760" cy="548640"/>
          </a:xfrm>
          <a:prstGeom prst="rect">
            <a:avLst/>
          </a:prstGeom>
          <a:solidFill>
            <a:srgbClr val="1E2761"/>
          </a:solidFill>
          <a:ln w="12700">
            <a:solidFill>
              <a:srgbClr val="1E2761"/>
            </a:solidFill>
            <a:prstDash val="solid"/>
          </a:ln>
        </p:spPr>
      </p:sp>
      <p:sp>
        <p:nvSpPr>
          <p:cNvPr id="9" name="Text 7"/>
          <p:cNvSpPr/>
          <p:nvPr/>
        </p:nvSpPr>
        <p:spPr>
          <a:xfrm>
            <a:off x="365760" y="4480560"/>
            <a:ext cx="2651760" cy="548640"/>
          </a:xfrm>
          <a:prstGeom prst="rect">
            <a:avLst/>
          </a:prstGeom>
          <a:noFill/>
          <a:ln/>
        </p:spPr>
        <p:txBody>
          <a:bodyPr wrap="square" rtlCol="0" anchor="ctr"/>
          <a:lstStyle/>
          <a:p>
            <a:pPr marL="0" indent="0" algn="ctr">
              <a:buNone/>
            </a:pPr>
            <a:r>
              <a:rPr lang="en-US" sz="1000" dirty="0">
                <a:solidFill>
                  <a:srgbClr val="CADCFC"/>
                </a:solidFill>
              </a:rPr>
              <a:t>Timeline  </a:t>
            </a:r>
            <a:r>
              <a:rPr lang="en-US" sz="1300" b="1" dirty="0">
                <a:solidFill>
                  <a:srgbClr val="FFFFFF"/>
                </a:solidFill>
              </a:rPr>
              <a:t>4 Weeks</a:t>
            </a:r>
            <a:endParaRPr lang="en-US" sz="1000" dirty="0"/>
          </a:p>
        </p:txBody>
      </p:sp>
      <p:sp>
        <p:nvSpPr>
          <p:cNvPr id="10" name="Shape 8"/>
          <p:cNvSpPr/>
          <p:nvPr/>
        </p:nvSpPr>
        <p:spPr>
          <a:xfrm>
            <a:off x="3246120" y="4480560"/>
            <a:ext cx="2651760" cy="548640"/>
          </a:xfrm>
          <a:prstGeom prst="rect">
            <a:avLst/>
          </a:prstGeom>
          <a:solidFill>
            <a:srgbClr val="1E2761"/>
          </a:solidFill>
          <a:ln w="12700">
            <a:solidFill>
              <a:srgbClr val="1E2761"/>
            </a:solidFill>
            <a:prstDash val="solid"/>
          </a:ln>
        </p:spPr>
      </p:sp>
      <p:sp>
        <p:nvSpPr>
          <p:cNvPr id="11" name="Text 9"/>
          <p:cNvSpPr/>
          <p:nvPr/>
        </p:nvSpPr>
        <p:spPr>
          <a:xfrm>
            <a:off x="3246120" y="4480560"/>
            <a:ext cx="2651760" cy="548640"/>
          </a:xfrm>
          <a:prstGeom prst="rect">
            <a:avLst/>
          </a:prstGeom>
          <a:noFill/>
          <a:ln/>
        </p:spPr>
        <p:txBody>
          <a:bodyPr wrap="square" rtlCol="0" anchor="ctr"/>
          <a:lstStyle/>
          <a:p>
            <a:pPr marL="0" indent="0" algn="ctr">
              <a:buNone/>
            </a:pPr>
            <a:r>
              <a:rPr lang="en-US" sz="1000" dirty="0">
                <a:solidFill>
                  <a:srgbClr val="CADCFC"/>
                </a:solidFill>
              </a:rPr>
              <a:t>Scope  </a:t>
            </a:r>
            <a:r>
              <a:rPr lang="en-US" sz="1300" b="1" dirty="0">
                <a:solidFill>
                  <a:srgbClr val="FFFFFF"/>
                </a:solidFill>
              </a:rPr>
              <a:t>All Departments</a:t>
            </a:r>
            <a:endParaRPr lang="en-US" sz="1000" dirty="0"/>
          </a:p>
        </p:txBody>
      </p:sp>
      <p:sp>
        <p:nvSpPr>
          <p:cNvPr id="12" name="Shape 10"/>
          <p:cNvSpPr/>
          <p:nvPr/>
        </p:nvSpPr>
        <p:spPr>
          <a:xfrm>
            <a:off x="6126480" y="4480560"/>
            <a:ext cx="2651760" cy="548640"/>
          </a:xfrm>
          <a:prstGeom prst="rect">
            <a:avLst/>
          </a:prstGeom>
          <a:solidFill>
            <a:srgbClr val="1E2761"/>
          </a:solidFill>
          <a:ln w="12700">
            <a:solidFill>
              <a:srgbClr val="1E2761"/>
            </a:solidFill>
            <a:prstDash val="solid"/>
          </a:ln>
        </p:spPr>
      </p:sp>
      <p:sp>
        <p:nvSpPr>
          <p:cNvPr id="13" name="Text 11"/>
          <p:cNvSpPr/>
          <p:nvPr/>
        </p:nvSpPr>
        <p:spPr>
          <a:xfrm>
            <a:off x="6126480" y="4480560"/>
            <a:ext cx="2651760" cy="548640"/>
          </a:xfrm>
          <a:prstGeom prst="rect">
            <a:avLst/>
          </a:prstGeom>
          <a:noFill/>
          <a:ln/>
        </p:spPr>
        <p:txBody>
          <a:bodyPr wrap="square" rtlCol="0" anchor="ctr"/>
          <a:lstStyle/>
          <a:p>
            <a:pPr marL="0" indent="0" algn="ctr">
              <a:buNone/>
            </a:pPr>
            <a:r>
              <a:rPr lang="en-US" sz="1000" dirty="0">
                <a:solidFill>
                  <a:srgbClr val="CADCFC"/>
                </a:solidFill>
              </a:rPr>
              <a:t>Priority  </a:t>
            </a:r>
            <a:r>
              <a:rPr lang="en-US" sz="1300" b="1" dirty="0">
                <a:solidFill>
                  <a:srgbClr val="FFFFFF"/>
                </a:solidFill>
              </a:rPr>
              <a:t>High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600" b="1" dirty="0">
                <a:solidFill>
                  <a:srgbClr val="FFFFFF"/>
                </a:solidFill>
              </a:rPr>
              <a:t>Objectives &amp; Key Tasks</a:t>
            </a:r>
            <a:endParaRPr lang="en-US" sz="2600" dirty="0"/>
          </a:p>
        </p:txBody>
      </p:sp>
      <p:sp>
        <p:nvSpPr>
          <p:cNvPr id="4" name="Shape 2"/>
          <p:cNvSpPr/>
          <p:nvPr/>
        </p:nvSpPr>
        <p:spPr>
          <a:xfrm>
            <a:off x="274320" y="960120"/>
            <a:ext cx="4023360" cy="3977640"/>
          </a:xfrm>
          <a:prstGeom prst="rect">
            <a:avLst/>
          </a:prstGeom>
          <a:solidFill>
            <a:srgbClr val="F0F4FF"/>
          </a:solidFill>
          <a:ln w="6350">
            <a:solidFill>
              <a:srgbClr val="D0D8F0"/>
            </a:solidFill>
            <a:prstDash val="solid"/>
          </a:ln>
        </p:spPr>
      </p:sp>
      <p:sp>
        <p:nvSpPr>
          <p:cNvPr id="5" name="Text 3"/>
          <p:cNvSpPr/>
          <p:nvPr/>
        </p:nvSpPr>
        <p:spPr>
          <a:xfrm>
            <a:off x="457200" y="1097280"/>
            <a:ext cx="3657600" cy="365760"/>
          </a:xfrm>
          <a:prstGeom prst="rect">
            <a:avLst/>
          </a:prstGeom>
          <a:noFill/>
          <a:ln/>
        </p:spPr>
        <p:txBody>
          <a:bodyPr wrap="square" rtlCol="0" anchor="ctr"/>
          <a:lstStyle/>
          <a:p>
            <a:pPr marL="0" indent="0">
              <a:buNone/>
            </a:pPr>
            <a:r>
              <a:rPr lang="en-US" sz="1500" b="1" dirty="0">
                <a:solidFill>
                  <a:srgbClr val="1E2761"/>
                </a:solidFill>
              </a:rPr>
              <a:t>Objective</a:t>
            </a:r>
            <a:endParaRPr lang="en-US" sz="1500" dirty="0"/>
          </a:p>
        </p:txBody>
      </p:sp>
      <p:sp>
        <p:nvSpPr>
          <p:cNvPr id="6" name="Text 4"/>
          <p:cNvSpPr/>
          <p:nvPr/>
        </p:nvSpPr>
        <p:spPr>
          <a:xfrm>
            <a:off x="457200" y="1508760"/>
            <a:ext cx="3657600" cy="1371600"/>
          </a:xfrm>
          <a:prstGeom prst="rect">
            <a:avLst/>
          </a:prstGeom>
          <a:noFill/>
          <a:ln/>
        </p:spPr>
        <p:txBody>
          <a:bodyPr wrap="square" rtlCol="0" anchor="ctr"/>
          <a:lstStyle/>
          <a:p>
            <a:pPr marL="0" indent="0">
              <a:lnSpc>
                <a:spcPct val="140000"/>
              </a:lnSpc>
              <a:buNone/>
            </a:pPr>
            <a:r>
              <a:rPr lang="en-US" sz="1300" dirty="0">
                <a:solidFill>
                  <a:srgbClr val="1A1F4B"/>
                </a:solidFill>
              </a:rPr>
              <a:t>Introduce new project management software to improve efficiency across all departments, ensuring a smooth transition and strong adoption within one month.</a:t>
            </a:r>
            <a:endParaRPr lang="en-US" sz="1300" dirty="0"/>
          </a:p>
        </p:txBody>
      </p:sp>
      <p:sp>
        <p:nvSpPr>
          <p:cNvPr id="7" name="Shape 5"/>
          <p:cNvSpPr/>
          <p:nvPr/>
        </p:nvSpPr>
        <p:spPr>
          <a:xfrm>
            <a:off x="4635304" y="960120"/>
            <a:ext cx="4297680" cy="3977640"/>
          </a:xfrm>
          <a:prstGeom prst="rect">
            <a:avLst/>
          </a:prstGeom>
          <a:solidFill>
            <a:srgbClr val="F0F4FF"/>
          </a:solidFill>
          <a:ln w="6350">
            <a:solidFill>
              <a:srgbClr val="D0D8F0"/>
            </a:solidFill>
            <a:prstDash val="solid"/>
          </a:ln>
        </p:spPr>
      </p:sp>
      <p:sp>
        <p:nvSpPr>
          <p:cNvPr id="8" name="Text 6"/>
          <p:cNvSpPr/>
          <p:nvPr/>
        </p:nvSpPr>
        <p:spPr>
          <a:xfrm>
            <a:off x="4754880" y="1097280"/>
            <a:ext cx="3931920" cy="365760"/>
          </a:xfrm>
          <a:prstGeom prst="rect">
            <a:avLst/>
          </a:prstGeom>
          <a:noFill/>
          <a:ln/>
        </p:spPr>
        <p:txBody>
          <a:bodyPr wrap="square" rtlCol="0" anchor="ctr"/>
          <a:lstStyle/>
          <a:p>
            <a:pPr marL="0" indent="0">
              <a:buNone/>
            </a:pPr>
            <a:r>
              <a:rPr lang="en-US" sz="1500" b="1" dirty="0">
                <a:solidFill>
                  <a:srgbClr val="1E2761"/>
                </a:solidFill>
              </a:rPr>
              <a:t>Key Tasks</a:t>
            </a:r>
            <a:endParaRPr lang="en-US" sz="1500" dirty="0"/>
          </a:p>
        </p:txBody>
      </p:sp>
      <p:sp>
        <p:nvSpPr>
          <p:cNvPr id="9" name="Text 7"/>
          <p:cNvSpPr/>
          <p:nvPr/>
        </p:nvSpPr>
        <p:spPr>
          <a:xfrm>
            <a:off x="4663440" y="845820"/>
            <a:ext cx="3931920" cy="3200400"/>
          </a:xfrm>
          <a:prstGeom prst="rect">
            <a:avLst/>
          </a:prstGeom>
          <a:noFill/>
          <a:ln/>
        </p:spPr>
        <p:txBody>
          <a:bodyPr wrap="square" rtlCol="0" anchor="ctr"/>
          <a:lstStyle/>
          <a:p>
            <a:pPr marL="342900" indent="-342900">
              <a:spcAft>
                <a:spcPts val="600"/>
              </a:spcAft>
              <a:buSzPct val="100000"/>
              <a:buChar char="•"/>
            </a:pPr>
            <a:r>
              <a:rPr lang="en-US" sz="1250" dirty="0">
                <a:solidFill>
                  <a:srgbClr val="1A1F4B"/>
                </a:solidFill>
              </a:rPr>
              <a:t>Evaluate the features and benefits of the new software</a:t>
            </a:r>
            <a:endParaRPr lang="en-US" sz="1250" dirty="0"/>
          </a:p>
          <a:p>
            <a:pPr marL="342900" indent="-342900">
              <a:spcAft>
                <a:spcPts val="600"/>
              </a:spcAft>
              <a:buSzPct val="100000"/>
              <a:buChar char="•"/>
            </a:pPr>
            <a:r>
              <a:rPr lang="en-US" sz="1250" dirty="0">
                <a:solidFill>
                  <a:srgbClr val="1A1F4B"/>
                </a:solidFill>
              </a:rPr>
              <a:t>Plan the installation and configuration</a:t>
            </a:r>
            <a:endParaRPr lang="en-US" sz="1250" dirty="0"/>
          </a:p>
          <a:p>
            <a:pPr marL="342900" indent="-342900">
              <a:spcAft>
                <a:spcPts val="600"/>
              </a:spcAft>
              <a:buSzPct val="100000"/>
              <a:buChar char="•"/>
            </a:pPr>
            <a:r>
              <a:rPr lang="en-US" sz="1250" dirty="0">
                <a:solidFill>
                  <a:srgbClr val="1A1F4B"/>
                </a:solidFill>
              </a:rPr>
              <a:t>Organise training sessions for all employees</a:t>
            </a:r>
            <a:endParaRPr lang="en-US" sz="1250" dirty="0"/>
          </a:p>
          <a:p>
            <a:pPr marL="342900" indent="-342900">
              <a:spcAft>
                <a:spcPts val="600"/>
              </a:spcAft>
              <a:buSzPct val="100000"/>
              <a:buChar char="•"/>
            </a:pPr>
            <a:r>
              <a:rPr lang="en-US" sz="1250" dirty="0">
                <a:solidFill>
                  <a:srgbClr val="1A1F4B"/>
                </a:solidFill>
              </a:rPr>
              <a:t>Monitor initial use and provide support</a:t>
            </a:r>
            <a:endParaRPr lang="en-US" sz="1250" dirty="0"/>
          </a:p>
          <a:p>
            <a:pPr marL="342900" indent="-342900">
              <a:spcAft>
                <a:spcPts val="600"/>
              </a:spcAft>
              <a:buSzPct val="100000"/>
              <a:buChar char="•"/>
            </a:pPr>
            <a:r>
              <a:rPr lang="en-US" sz="1250" dirty="0">
                <a:solidFill>
                  <a:srgbClr val="1A1F4B"/>
                </a:solidFill>
              </a:rPr>
              <a:t>Collect feedback and address issues during transition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600" b="1" dirty="0">
                <a:solidFill>
                  <a:srgbClr val="FFFFFF"/>
                </a:solidFill>
              </a:rPr>
              <a:t>4-Week Action Plan</a:t>
            </a:r>
            <a:endParaRPr lang="en-US" sz="2600" dirty="0"/>
          </a:p>
        </p:txBody>
      </p:sp>
      <p:sp>
        <p:nvSpPr>
          <p:cNvPr id="4" name="Shape 2"/>
          <p:cNvSpPr/>
          <p:nvPr/>
        </p:nvSpPr>
        <p:spPr>
          <a:xfrm>
            <a:off x="201168" y="960120"/>
            <a:ext cx="2066544" cy="3977640"/>
          </a:xfrm>
          <a:prstGeom prst="rect">
            <a:avLst/>
          </a:prstGeom>
          <a:solidFill>
            <a:srgbClr val="E3F2FD"/>
          </a:solidFill>
          <a:ln w="6350">
            <a:solidFill>
              <a:srgbClr val="1565C0"/>
            </a:solidFill>
            <a:prstDash val="solid"/>
          </a:ln>
        </p:spPr>
      </p:sp>
      <p:sp>
        <p:nvSpPr>
          <p:cNvPr id="5" name="Shape 3"/>
          <p:cNvSpPr/>
          <p:nvPr/>
        </p:nvSpPr>
        <p:spPr>
          <a:xfrm>
            <a:off x="201168" y="960120"/>
            <a:ext cx="2066544" cy="822960"/>
          </a:xfrm>
          <a:prstGeom prst="rect">
            <a:avLst/>
          </a:prstGeom>
          <a:solidFill>
            <a:srgbClr val="1565C0"/>
          </a:solidFill>
          <a:ln w="12700">
            <a:solidFill>
              <a:srgbClr val="1565C0"/>
            </a:solidFill>
            <a:prstDash val="solid"/>
          </a:ln>
        </p:spPr>
      </p:sp>
      <p:sp>
        <p:nvSpPr>
          <p:cNvPr id="6" name="Text 4"/>
          <p:cNvSpPr/>
          <p:nvPr/>
        </p:nvSpPr>
        <p:spPr>
          <a:xfrm>
            <a:off x="201168" y="987552"/>
            <a:ext cx="2066544" cy="320040"/>
          </a:xfrm>
          <a:prstGeom prst="rect">
            <a:avLst/>
          </a:prstGeom>
          <a:noFill/>
          <a:ln/>
        </p:spPr>
        <p:txBody>
          <a:bodyPr wrap="square" rtlCol="0" anchor="ctr"/>
          <a:lstStyle/>
          <a:p>
            <a:pPr marL="0" indent="0" algn="ctr">
              <a:buNone/>
            </a:pPr>
            <a:r>
              <a:rPr lang="en-US" sz="1000" b="1" kern="0" spc="200" dirty="0">
                <a:solidFill>
                  <a:srgbClr val="FFFFFF"/>
                </a:solidFill>
              </a:rPr>
              <a:t>WEEK 1</a:t>
            </a:r>
            <a:endParaRPr lang="en-US" sz="1000" dirty="0"/>
          </a:p>
        </p:txBody>
      </p:sp>
      <p:sp>
        <p:nvSpPr>
          <p:cNvPr id="7" name="Text 5"/>
          <p:cNvSpPr/>
          <p:nvPr/>
        </p:nvSpPr>
        <p:spPr>
          <a:xfrm>
            <a:off x="201168" y="1261872"/>
            <a:ext cx="2066544" cy="548640"/>
          </a:xfrm>
          <a:prstGeom prst="rect">
            <a:avLst/>
          </a:prstGeom>
          <a:noFill/>
          <a:ln/>
        </p:spPr>
        <p:txBody>
          <a:bodyPr wrap="square" rtlCol="0" anchor="t"/>
          <a:lstStyle/>
          <a:p>
            <a:pPr marL="0" indent="0" algn="ctr">
              <a:buNone/>
            </a:pPr>
            <a:r>
              <a:rPr lang="en-US" sz="1300" b="1" dirty="0">
                <a:solidFill>
                  <a:srgbClr val="FFFFFF"/>
                </a:solidFill>
              </a:rPr>
              <a:t>Evaluation</a:t>
            </a:r>
            <a:endParaRPr lang="en-US" sz="1300" dirty="0"/>
          </a:p>
          <a:p>
            <a:pPr marL="0" indent="0" algn="ctr">
              <a:buNone/>
            </a:pPr>
            <a:r>
              <a:rPr lang="en-US" sz="1300" b="1" dirty="0">
                <a:solidFill>
                  <a:srgbClr val="FFFFFF"/>
                </a:solidFill>
              </a:rPr>
              <a:t>&amp; Setup</a:t>
            </a:r>
            <a:endParaRPr lang="en-US" sz="1300" dirty="0"/>
          </a:p>
        </p:txBody>
      </p:sp>
      <p:sp>
        <p:nvSpPr>
          <p:cNvPr id="8" name="Text 6"/>
          <p:cNvSpPr/>
          <p:nvPr/>
        </p:nvSpPr>
        <p:spPr>
          <a:xfrm>
            <a:off x="292608" y="1920240"/>
            <a:ext cx="1883664" cy="2788920"/>
          </a:xfrm>
          <a:prstGeom prst="rect">
            <a:avLst/>
          </a:prstGeom>
          <a:noFill/>
          <a:ln/>
        </p:spPr>
        <p:txBody>
          <a:bodyPr wrap="square" rtlCol="0" anchor="ctr"/>
          <a:lstStyle/>
          <a:p>
            <a:pPr marL="342900" indent="-342900">
              <a:spcAft>
                <a:spcPts val="500"/>
              </a:spcAft>
              <a:buSzPct val="100000"/>
              <a:buChar char="•"/>
            </a:pPr>
            <a:r>
              <a:rPr lang="en-US" sz="1100" dirty="0">
                <a:solidFill>
                  <a:srgbClr val="1A1F4B"/>
                </a:solidFill>
              </a:rPr>
              <a:t>Review software features &amp; benefits</a:t>
            </a:r>
            <a:endParaRPr lang="en-US" sz="1100" dirty="0"/>
          </a:p>
          <a:p>
            <a:pPr marL="342900" indent="-342900">
              <a:spcAft>
                <a:spcPts val="500"/>
              </a:spcAft>
              <a:buSzPct val="100000"/>
              <a:buChar char="•"/>
            </a:pPr>
            <a:r>
              <a:rPr lang="en-US" sz="1100" dirty="0">
                <a:solidFill>
                  <a:srgbClr val="1A1F4B"/>
                </a:solidFill>
              </a:rPr>
              <a:t>Assess system compatibility</a:t>
            </a:r>
            <a:endParaRPr lang="en-US" sz="1100" dirty="0"/>
          </a:p>
          <a:p>
            <a:pPr marL="342900" indent="-342900">
              <a:spcAft>
                <a:spcPts val="500"/>
              </a:spcAft>
              <a:buSzPct val="100000"/>
              <a:buChar char="•"/>
            </a:pPr>
            <a:r>
              <a:rPr lang="en-US" sz="1100" dirty="0">
                <a:solidFill>
                  <a:srgbClr val="1A1F4B"/>
                </a:solidFill>
              </a:rPr>
              <a:t>Assign IT leads &amp; project owner</a:t>
            </a:r>
            <a:endParaRPr lang="en-US" sz="1100" dirty="0"/>
          </a:p>
          <a:p>
            <a:pPr marL="342900" indent="-342900">
              <a:spcAft>
                <a:spcPts val="500"/>
              </a:spcAft>
              <a:buSzPct val="100000"/>
              <a:buChar char="•"/>
            </a:pPr>
            <a:r>
              <a:rPr lang="en-US" sz="1100" dirty="0">
                <a:solidFill>
                  <a:srgbClr val="1A1F4B"/>
                </a:solidFill>
              </a:rPr>
              <a:t>Create implementation checklist</a:t>
            </a:r>
            <a:endParaRPr lang="en-US" sz="1100" dirty="0"/>
          </a:p>
        </p:txBody>
      </p:sp>
      <p:sp>
        <p:nvSpPr>
          <p:cNvPr id="9" name="Shape 7"/>
          <p:cNvSpPr/>
          <p:nvPr/>
        </p:nvSpPr>
        <p:spPr>
          <a:xfrm>
            <a:off x="2432304" y="960120"/>
            <a:ext cx="2066544" cy="3977640"/>
          </a:xfrm>
          <a:prstGeom prst="rect">
            <a:avLst/>
          </a:prstGeom>
          <a:solidFill>
            <a:srgbClr val="E8F5E9"/>
          </a:solidFill>
          <a:ln w="6350">
            <a:solidFill>
              <a:srgbClr val="2E7D32"/>
            </a:solidFill>
            <a:prstDash val="solid"/>
          </a:ln>
        </p:spPr>
      </p:sp>
      <p:sp>
        <p:nvSpPr>
          <p:cNvPr id="10" name="Shape 8"/>
          <p:cNvSpPr/>
          <p:nvPr/>
        </p:nvSpPr>
        <p:spPr>
          <a:xfrm>
            <a:off x="2432304" y="960120"/>
            <a:ext cx="2066544" cy="822960"/>
          </a:xfrm>
          <a:prstGeom prst="rect">
            <a:avLst/>
          </a:prstGeom>
          <a:solidFill>
            <a:srgbClr val="2E7D32"/>
          </a:solidFill>
          <a:ln w="12700">
            <a:solidFill>
              <a:srgbClr val="2E7D32"/>
            </a:solidFill>
            <a:prstDash val="solid"/>
          </a:ln>
        </p:spPr>
      </p:sp>
      <p:sp>
        <p:nvSpPr>
          <p:cNvPr id="11" name="Text 9"/>
          <p:cNvSpPr/>
          <p:nvPr/>
        </p:nvSpPr>
        <p:spPr>
          <a:xfrm>
            <a:off x="2432304" y="987552"/>
            <a:ext cx="2066544" cy="320040"/>
          </a:xfrm>
          <a:prstGeom prst="rect">
            <a:avLst/>
          </a:prstGeom>
          <a:noFill/>
          <a:ln/>
        </p:spPr>
        <p:txBody>
          <a:bodyPr wrap="square" rtlCol="0" anchor="ctr"/>
          <a:lstStyle/>
          <a:p>
            <a:pPr marL="0" indent="0" algn="ctr">
              <a:buNone/>
            </a:pPr>
            <a:r>
              <a:rPr lang="en-US" sz="1000" b="1" kern="0" spc="200" dirty="0">
                <a:solidFill>
                  <a:srgbClr val="FFFFFF"/>
                </a:solidFill>
              </a:rPr>
              <a:t>WEEK 2</a:t>
            </a:r>
            <a:endParaRPr lang="en-US" sz="1000" dirty="0"/>
          </a:p>
        </p:txBody>
      </p:sp>
      <p:sp>
        <p:nvSpPr>
          <p:cNvPr id="12" name="Text 10"/>
          <p:cNvSpPr/>
          <p:nvPr/>
        </p:nvSpPr>
        <p:spPr>
          <a:xfrm>
            <a:off x="2432304" y="1261872"/>
            <a:ext cx="2066544" cy="548640"/>
          </a:xfrm>
          <a:prstGeom prst="rect">
            <a:avLst/>
          </a:prstGeom>
          <a:noFill/>
          <a:ln/>
        </p:spPr>
        <p:txBody>
          <a:bodyPr wrap="square" rtlCol="0" anchor="t"/>
          <a:lstStyle/>
          <a:p>
            <a:pPr marL="0" indent="0" algn="ctr">
              <a:buNone/>
            </a:pPr>
            <a:r>
              <a:rPr lang="en-US" sz="1300" b="1" dirty="0">
                <a:solidFill>
                  <a:srgbClr val="FFFFFF"/>
                </a:solidFill>
              </a:rPr>
              <a:t>Installation</a:t>
            </a:r>
            <a:endParaRPr lang="en-US" sz="1300" dirty="0"/>
          </a:p>
          <a:p>
            <a:pPr marL="0" indent="0" algn="ctr">
              <a:buNone/>
            </a:pPr>
            <a:r>
              <a:rPr lang="en-US" sz="1300" b="1" dirty="0">
                <a:solidFill>
                  <a:srgbClr val="FFFFFF"/>
                </a:solidFill>
              </a:rPr>
              <a:t>&amp; Config</a:t>
            </a:r>
            <a:endParaRPr lang="en-US" sz="1300" dirty="0"/>
          </a:p>
        </p:txBody>
      </p:sp>
      <p:sp>
        <p:nvSpPr>
          <p:cNvPr id="13" name="Text 11"/>
          <p:cNvSpPr/>
          <p:nvPr/>
        </p:nvSpPr>
        <p:spPr>
          <a:xfrm>
            <a:off x="2523744" y="1920240"/>
            <a:ext cx="1883664" cy="2788920"/>
          </a:xfrm>
          <a:prstGeom prst="rect">
            <a:avLst/>
          </a:prstGeom>
          <a:noFill/>
          <a:ln/>
        </p:spPr>
        <p:txBody>
          <a:bodyPr wrap="square" rtlCol="0" anchor="ctr"/>
          <a:lstStyle/>
          <a:p>
            <a:pPr marL="342900" indent="-342900">
              <a:spcAft>
                <a:spcPts val="500"/>
              </a:spcAft>
              <a:buSzPct val="100000"/>
              <a:buChar char="•"/>
            </a:pPr>
            <a:r>
              <a:rPr lang="en-US" sz="1100" dirty="0">
                <a:solidFill>
                  <a:srgbClr val="1A1F4B"/>
                </a:solidFill>
              </a:rPr>
              <a:t>Install software on all devices</a:t>
            </a:r>
            <a:endParaRPr lang="en-US" sz="1100" dirty="0"/>
          </a:p>
          <a:p>
            <a:pPr marL="342900" indent="-342900">
              <a:spcAft>
                <a:spcPts val="500"/>
              </a:spcAft>
              <a:buSzPct val="100000"/>
              <a:buChar char="•"/>
            </a:pPr>
            <a:r>
              <a:rPr lang="en-US" sz="1100" dirty="0">
                <a:solidFill>
                  <a:srgbClr val="1A1F4B"/>
                </a:solidFill>
              </a:rPr>
              <a:t>Configure roles &amp; permissions</a:t>
            </a:r>
            <a:endParaRPr lang="en-US" sz="1100" dirty="0"/>
          </a:p>
          <a:p>
            <a:pPr marL="342900" indent="-342900">
              <a:spcAft>
                <a:spcPts val="500"/>
              </a:spcAft>
              <a:buSzPct val="100000"/>
              <a:buChar char="•"/>
            </a:pPr>
            <a:r>
              <a:rPr lang="en-US" sz="1100" dirty="0">
                <a:solidFill>
                  <a:srgbClr val="1A1F4B"/>
                </a:solidFill>
              </a:rPr>
              <a:t>Integrate with existing tools</a:t>
            </a:r>
            <a:endParaRPr lang="en-US" sz="1100" dirty="0"/>
          </a:p>
          <a:p>
            <a:pPr marL="342900" indent="-342900">
              <a:spcAft>
                <a:spcPts val="500"/>
              </a:spcAft>
              <a:buSzPct val="100000"/>
              <a:buChar char="•"/>
            </a:pPr>
            <a:r>
              <a:rPr lang="en-US" sz="1100" dirty="0">
                <a:solidFill>
                  <a:srgbClr val="1A1F4B"/>
                </a:solidFill>
              </a:rPr>
              <a:t>Run QA &amp; testing</a:t>
            </a:r>
            <a:endParaRPr lang="en-US" sz="1100" dirty="0"/>
          </a:p>
        </p:txBody>
      </p:sp>
      <p:sp>
        <p:nvSpPr>
          <p:cNvPr id="14" name="Shape 12"/>
          <p:cNvSpPr/>
          <p:nvPr/>
        </p:nvSpPr>
        <p:spPr>
          <a:xfrm>
            <a:off x="4663440" y="960120"/>
            <a:ext cx="2066544" cy="3977640"/>
          </a:xfrm>
          <a:prstGeom prst="rect">
            <a:avLst/>
          </a:prstGeom>
          <a:solidFill>
            <a:srgbClr val="F3E5F5"/>
          </a:solidFill>
          <a:ln w="6350">
            <a:solidFill>
              <a:srgbClr val="6A1B9A"/>
            </a:solidFill>
            <a:prstDash val="solid"/>
          </a:ln>
        </p:spPr>
      </p:sp>
      <p:sp>
        <p:nvSpPr>
          <p:cNvPr id="15" name="Shape 13"/>
          <p:cNvSpPr/>
          <p:nvPr/>
        </p:nvSpPr>
        <p:spPr>
          <a:xfrm>
            <a:off x="4663440" y="960120"/>
            <a:ext cx="2066544" cy="822960"/>
          </a:xfrm>
          <a:prstGeom prst="rect">
            <a:avLst/>
          </a:prstGeom>
          <a:solidFill>
            <a:srgbClr val="6A1B9A"/>
          </a:solidFill>
          <a:ln w="12700">
            <a:solidFill>
              <a:srgbClr val="6A1B9A"/>
            </a:solidFill>
            <a:prstDash val="solid"/>
          </a:ln>
        </p:spPr>
      </p:sp>
      <p:sp>
        <p:nvSpPr>
          <p:cNvPr id="16" name="Text 14"/>
          <p:cNvSpPr/>
          <p:nvPr/>
        </p:nvSpPr>
        <p:spPr>
          <a:xfrm>
            <a:off x="4663440" y="987552"/>
            <a:ext cx="2066544" cy="320040"/>
          </a:xfrm>
          <a:prstGeom prst="rect">
            <a:avLst/>
          </a:prstGeom>
          <a:noFill/>
          <a:ln/>
        </p:spPr>
        <p:txBody>
          <a:bodyPr wrap="square" rtlCol="0" anchor="ctr"/>
          <a:lstStyle/>
          <a:p>
            <a:pPr marL="0" indent="0" algn="ctr">
              <a:buNone/>
            </a:pPr>
            <a:r>
              <a:rPr lang="en-US" sz="1000" b="1" kern="0" spc="200" dirty="0">
                <a:solidFill>
                  <a:srgbClr val="FFFFFF"/>
                </a:solidFill>
              </a:rPr>
              <a:t>WEEK 3</a:t>
            </a:r>
            <a:endParaRPr lang="en-US" sz="1000" dirty="0"/>
          </a:p>
        </p:txBody>
      </p:sp>
      <p:sp>
        <p:nvSpPr>
          <p:cNvPr id="17" name="Text 15"/>
          <p:cNvSpPr/>
          <p:nvPr/>
        </p:nvSpPr>
        <p:spPr>
          <a:xfrm>
            <a:off x="4663440" y="1261872"/>
            <a:ext cx="2066544" cy="548640"/>
          </a:xfrm>
          <a:prstGeom prst="rect">
            <a:avLst/>
          </a:prstGeom>
          <a:noFill/>
          <a:ln/>
        </p:spPr>
        <p:txBody>
          <a:bodyPr wrap="square" rtlCol="0" anchor="t"/>
          <a:lstStyle/>
          <a:p>
            <a:pPr marL="0" indent="0" algn="ctr">
              <a:buNone/>
            </a:pPr>
            <a:r>
              <a:rPr lang="en-US" sz="1300" b="1" dirty="0">
                <a:solidFill>
                  <a:srgbClr val="FFFFFF"/>
                </a:solidFill>
              </a:rPr>
              <a:t>Training</a:t>
            </a:r>
            <a:endParaRPr lang="en-US" sz="1300" dirty="0"/>
          </a:p>
        </p:txBody>
      </p:sp>
      <p:sp>
        <p:nvSpPr>
          <p:cNvPr id="18" name="Text 16"/>
          <p:cNvSpPr/>
          <p:nvPr/>
        </p:nvSpPr>
        <p:spPr>
          <a:xfrm>
            <a:off x="4754880" y="1920240"/>
            <a:ext cx="1883664" cy="2788920"/>
          </a:xfrm>
          <a:prstGeom prst="rect">
            <a:avLst/>
          </a:prstGeom>
          <a:noFill/>
          <a:ln/>
        </p:spPr>
        <p:txBody>
          <a:bodyPr wrap="square" rtlCol="0" anchor="ctr"/>
          <a:lstStyle/>
          <a:p>
            <a:pPr marL="342900" indent="-342900">
              <a:spcAft>
                <a:spcPts val="500"/>
              </a:spcAft>
              <a:buSzPct val="100000"/>
              <a:buChar char="•"/>
            </a:pPr>
            <a:r>
              <a:rPr lang="en-US" sz="1100" dirty="0">
                <a:solidFill>
                  <a:srgbClr val="1A1F4B"/>
                </a:solidFill>
              </a:rPr>
              <a:t>Run dept-specific sessions</a:t>
            </a:r>
            <a:endParaRPr lang="en-US" sz="1100" dirty="0"/>
          </a:p>
          <a:p>
            <a:pPr marL="342900" indent="-342900">
              <a:spcAft>
                <a:spcPts val="500"/>
              </a:spcAft>
              <a:buSzPct val="100000"/>
              <a:buChar char="•"/>
            </a:pPr>
            <a:r>
              <a:rPr lang="en-US" sz="1100" dirty="0">
                <a:solidFill>
                  <a:srgbClr val="1A1F4B"/>
                </a:solidFill>
              </a:rPr>
              <a:t>Distribute user guides</a:t>
            </a:r>
            <a:endParaRPr lang="en-US" sz="1100" dirty="0"/>
          </a:p>
          <a:p>
            <a:pPr marL="342900" indent="-342900">
              <a:spcAft>
                <a:spcPts val="500"/>
              </a:spcAft>
              <a:buSzPct val="100000"/>
              <a:buChar char="•"/>
            </a:pPr>
            <a:r>
              <a:rPr lang="en-US" sz="1100" dirty="0">
                <a:solidFill>
                  <a:srgbClr val="1A1F4B"/>
                </a:solidFill>
              </a:rPr>
              <a:t>Identify power users per team</a:t>
            </a:r>
            <a:endParaRPr lang="en-US" sz="1100" dirty="0"/>
          </a:p>
          <a:p>
            <a:pPr marL="342900" indent="-342900">
              <a:spcAft>
                <a:spcPts val="500"/>
              </a:spcAft>
              <a:buSzPct val="100000"/>
              <a:buChar char="•"/>
            </a:pPr>
            <a:r>
              <a:rPr lang="en-US" sz="1100" dirty="0">
                <a:solidFill>
                  <a:srgbClr val="1A1F4B"/>
                </a:solidFill>
              </a:rPr>
              <a:t>Set up help desk channel</a:t>
            </a:r>
            <a:endParaRPr lang="en-US" sz="1100" dirty="0"/>
          </a:p>
        </p:txBody>
      </p:sp>
      <p:sp>
        <p:nvSpPr>
          <p:cNvPr id="19" name="Shape 17"/>
          <p:cNvSpPr/>
          <p:nvPr/>
        </p:nvSpPr>
        <p:spPr>
          <a:xfrm>
            <a:off x="6894576" y="960120"/>
            <a:ext cx="2066544" cy="3977640"/>
          </a:xfrm>
          <a:prstGeom prst="rect">
            <a:avLst/>
          </a:prstGeom>
          <a:solidFill>
            <a:srgbClr val="FFF3E0"/>
          </a:solidFill>
          <a:ln w="6350">
            <a:solidFill>
              <a:srgbClr val="E65100"/>
            </a:solidFill>
            <a:prstDash val="solid"/>
          </a:ln>
        </p:spPr>
      </p:sp>
      <p:sp>
        <p:nvSpPr>
          <p:cNvPr id="20" name="Shape 18"/>
          <p:cNvSpPr/>
          <p:nvPr/>
        </p:nvSpPr>
        <p:spPr>
          <a:xfrm>
            <a:off x="6894576" y="960120"/>
            <a:ext cx="2066544" cy="822960"/>
          </a:xfrm>
          <a:prstGeom prst="rect">
            <a:avLst/>
          </a:prstGeom>
          <a:solidFill>
            <a:srgbClr val="E65100"/>
          </a:solidFill>
          <a:ln w="12700">
            <a:solidFill>
              <a:srgbClr val="E65100"/>
            </a:solidFill>
            <a:prstDash val="solid"/>
          </a:ln>
        </p:spPr>
      </p:sp>
      <p:sp>
        <p:nvSpPr>
          <p:cNvPr id="21" name="Text 19"/>
          <p:cNvSpPr/>
          <p:nvPr/>
        </p:nvSpPr>
        <p:spPr>
          <a:xfrm>
            <a:off x="6894576" y="987552"/>
            <a:ext cx="2066544" cy="320040"/>
          </a:xfrm>
          <a:prstGeom prst="rect">
            <a:avLst/>
          </a:prstGeom>
          <a:noFill/>
          <a:ln/>
        </p:spPr>
        <p:txBody>
          <a:bodyPr wrap="square" rtlCol="0" anchor="ctr"/>
          <a:lstStyle/>
          <a:p>
            <a:pPr marL="0" indent="0" algn="ctr">
              <a:buNone/>
            </a:pPr>
            <a:r>
              <a:rPr lang="en-US" sz="1000" b="1" kern="0" spc="200" dirty="0">
                <a:solidFill>
                  <a:srgbClr val="FFFFFF"/>
                </a:solidFill>
              </a:rPr>
              <a:t>WEEK 4</a:t>
            </a:r>
            <a:endParaRPr lang="en-US" sz="1000" dirty="0"/>
          </a:p>
        </p:txBody>
      </p:sp>
      <p:sp>
        <p:nvSpPr>
          <p:cNvPr id="22" name="Text 20"/>
          <p:cNvSpPr/>
          <p:nvPr/>
        </p:nvSpPr>
        <p:spPr>
          <a:xfrm>
            <a:off x="6894576" y="1261872"/>
            <a:ext cx="2066544" cy="548640"/>
          </a:xfrm>
          <a:prstGeom prst="rect">
            <a:avLst/>
          </a:prstGeom>
          <a:noFill/>
          <a:ln/>
        </p:spPr>
        <p:txBody>
          <a:bodyPr wrap="square" rtlCol="0" anchor="t"/>
          <a:lstStyle/>
          <a:p>
            <a:pPr marL="0" indent="0" algn="ctr">
              <a:buNone/>
            </a:pPr>
            <a:r>
              <a:rPr lang="en-US" sz="1300" b="1" dirty="0">
                <a:solidFill>
                  <a:srgbClr val="FFFFFF"/>
                </a:solidFill>
              </a:rPr>
              <a:t>Go-Live</a:t>
            </a:r>
            <a:endParaRPr lang="en-US" sz="1300" dirty="0"/>
          </a:p>
          <a:p>
            <a:pPr marL="0" indent="0" algn="ctr">
              <a:buNone/>
            </a:pPr>
            <a:r>
              <a:rPr lang="en-US" sz="1300" b="1" dirty="0">
                <a:solidFill>
                  <a:srgbClr val="FFFFFF"/>
                </a:solidFill>
              </a:rPr>
              <a:t>&amp; Monitor</a:t>
            </a:r>
            <a:endParaRPr lang="en-US" sz="1300" dirty="0"/>
          </a:p>
        </p:txBody>
      </p:sp>
      <p:sp>
        <p:nvSpPr>
          <p:cNvPr id="23" name="Text 21"/>
          <p:cNvSpPr/>
          <p:nvPr/>
        </p:nvSpPr>
        <p:spPr>
          <a:xfrm>
            <a:off x="6986016" y="1920240"/>
            <a:ext cx="1883664" cy="2788920"/>
          </a:xfrm>
          <a:prstGeom prst="rect">
            <a:avLst/>
          </a:prstGeom>
          <a:noFill/>
          <a:ln/>
        </p:spPr>
        <p:txBody>
          <a:bodyPr wrap="square" rtlCol="0" anchor="ctr"/>
          <a:lstStyle/>
          <a:p>
            <a:pPr marL="342900" indent="-342900">
              <a:spcAft>
                <a:spcPts val="500"/>
              </a:spcAft>
              <a:buSzPct val="100000"/>
              <a:buChar char="•"/>
            </a:pPr>
            <a:r>
              <a:rPr lang="en-US" sz="1100" dirty="0">
                <a:solidFill>
                  <a:srgbClr val="1A1F4B"/>
                </a:solidFill>
              </a:rPr>
              <a:t>Company-wide launch</a:t>
            </a:r>
            <a:endParaRPr lang="en-US" sz="1100" dirty="0"/>
          </a:p>
          <a:p>
            <a:pPr marL="342900" indent="-342900">
              <a:spcAft>
                <a:spcPts val="500"/>
              </a:spcAft>
              <a:buSzPct val="100000"/>
              <a:buChar char="•"/>
            </a:pPr>
            <a:r>
              <a:rPr lang="en-US" sz="1100" dirty="0">
                <a:solidFill>
                  <a:srgbClr val="1A1F4B"/>
                </a:solidFill>
              </a:rPr>
              <a:t>Monitor usage &amp; resolve issues</a:t>
            </a:r>
            <a:endParaRPr lang="en-US" sz="1100" dirty="0"/>
          </a:p>
          <a:p>
            <a:pPr marL="342900" indent="-342900">
              <a:spcAft>
                <a:spcPts val="500"/>
              </a:spcAft>
              <a:buSzPct val="100000"/>
              <a:buChar char="•"/>
            </a:pPr>
            <a:r>
              <a:rPr lang="en-US" sz="1100" dirty="0">
                <a:solidFill>
                  <a:srgbClr val="1A1F4B"/>
                </a:solidFill>
              </a:rPr>
              <a:t>Collect feedback via surveys</a:t>
            </a:r>
            <a:endParaRPr lang="en-US" sz="1100" dirty="0"/>
          </a:p>
          <a:p>
            <a:pPr marL="342900" indent="-342900">
              <a:spcAft>
                <a:spcPts val="500"/>
              </a:spcAft>
              <a:buSzPct val="100000"/>
              <a:buChar char="•"/>
            </a:pPr>
            <a:r>
              <a:rPr lang="en-US" sz="1100" dirty="0">
                <a:solidFill>
                  <a:srgbClr val="1A1F4B"/>
                </a:solidFill>
              </a:rPr>
              <a:t>Report on adoption metrics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600" b="1" dirty="0">
                <a:solidFill>
                  <a:srgbClr val="FFFFFF"/>
                </a:solidFill>
              </a:rPr>
              <a:t>Risk Management</a:t>
            </a:r>
            <a:endParaRPr lang="en-US" sz="2600" dirty="0"/>
          </a:p>
        </p:txBody>
      </p:sp>
      <p:sp>
        <p:nvSpPr>
          <p:cNvPr id="4" name="Shape 2"/>
          <p:cNvSpPr/>
          <p:nvPr/>
        </p:nvSpPr>
        <p:spPr>
          <a:xfrm>
            <a:off x="274320" y="960120"/>
            <a:ext cx="8595360" cy="868680"/>
          </a:xfrm>
          <a:prstGeom prst="rect">
            <a:avLst/>
          </a:prstGeom>
          <a:solidFill>
            <a:srgbClr val="F8F9FF"/>
          </a:solidFill>
          <a:ln w="6350">
            <a:solidFill>
              <a:srgbClr val="D0D8F0"/>
            </a:solidFill>
            <a:prstDash val="solid"/>
          </a:ln>
        </p:spPr>
      </p:sp>
      <p:sp>
        <p:nvSpPr>
          <p:cNvPr id="5" name="Shape 3"/>
          <p:cNvSpPr/>
          <p:nvPr/>
        </p:nvSpPr>
        <p:spPr>
          <a:xfrm>
            <a:off x="274320" y="960120"/>
            <a:ext cx="777240" cy="868680"/>
          </a:xfrm>
          <a:prstGeom prst="rect">
            <a:avLst/>
          </a:prstGeom>
          <a:solidFill>
            <a:srgbClr val="FEE2E2"/>
          </a:solidFill>
          <a:ln w="12700">
            <a:solidFill>
              <a:srgbClr val="FEE2E2"/>
            </a:solidFill>
            <a:prstDash val="solid"/>
          </a:ln>
        </p:spPr>
      </p:sp>
      <p:sp>
        <p:nvSpPr>
          <p:cNvPr id="6" name="Text 4"/>
          <p:cNvSpPr/>
          <p:nvPr/>
        </p:nvSpPr>
        <p:spPr>
          <a:xfrm>
            <a:off x="274320" y="960120"/>
            <a:ext cx="777240" cy="868680"/>
          </a:xfrm>
          <a:prstGeom prst="rect">
            <a:avLst/>
          </a:prstGeom>
          <a:noFill/>
          <a:ln/>
        </p:spPr>
        <p:txBody>
          <a:bodyPr wrap="square" rtlCol="0" anchor="ctr"/>
          <a:lstStyle/>
          <a:p>
            <a:pPr marL="0" indent="0" algn="ctr">
              <a:buNone/>
            </a:pPr>
            <a:r>
              <a:rPr lang="en-US" sz="1100" b="1" dirty="0">
                <a:solidFill>
                  <a:srgbClr val="991B1B"/>
                </a:solidFill>
              </a:rPr>
              <a:t>HIGH</a:t>
            </a:r>
            <a:endParaRPr lang="en-US" sz="1100" dirty="0"/>
          </a:p>
        </p:txBody>
      </p:sp>
      <p:sp>
        <p:nvSpPr>
          <p:cNvPr id="7" name="Text 5"/>
          <p:cNvSpPr/>
          <p:nvPr/>
        </p:nvSpPr>
        <p:spPr>
          <a:xfrm>
            <a:off x="1143000" y="1024128"/>
            <a:ext cx="2926080" cy="365760"/>
          </a:xfrm>
          <a:prstGeom prst="rect">
            <a:avLst/>
          </a:prstGeom>
          <a:noFill/>
          <a:ln/>
        </p:spPr>
        <p:txBody>
          <a:bodyPr wrap="square" rtlCol="0" anchor="ctr"/>
          <a:lstStyle/>
          <a:p>
            <a:pPr marL="0" indent="0">
              <a:buNone/>
            </a:pPr>
            <a:r>
              <a:rPr lang="en-US" sz="1300" b="1" dirty="0">
                <a:solidFill>
                  <a:srgbClr val="1A1F4B"/>
                </a:solidFill>
              </a:rPr>
              <a:t>Resistance to change from employees</a:t>
            </a:r>
            <a:endParaRPr lang="en-US" sz="1300" dirty="0"/>
          </a:p>
        </p:txBody>
      </p:sp>
      <p:sp>
        <p:nvSpPr>
          <p:cNvPr id="8" name="Text 6"/>
          <p:cNvSpPr/>
          <p:nvPr/>
        </p:nvSpPr>
        <p:spPr>
          <a:xfrm>
            <a:off x="1143000" y="1389888"/>
            <a:ext cx="7635240" cy="365760"/>
          </a:xfrm>
          <a:prstGeom prst="rect">
            <a:avLst/>
          </a:prstGeom>
          <a:noFill/>
          <a:ln/>
        </p:spPr>
        <p:txBody>
          <a:bodyPr wrap="square" rtlCol="0" anchor="ctr"/>
          <a:lstStyle/>
          <a:p>
            <a:pPr marL="0" indent="0">
              <a:buNone/>
            </a:pPr>
            <a:r>
              <a:rPr lang="en-US" sz="1100" i="1" dirty="0">
                <a:solidFill>
                  <a:srgbClr val="5A6080"/>
                </a:solidFill>
              </a:rPr>
              <a:t>Mitigation: Early communication, involve staff in planning, highlight personal benefits, appoint change champions per department.</a:t>
            </a:r>
            <a:endParaRPr lang="en-US" sz="1100" dirty="0"/>
          </a:p>
        </p:txBody>
      </p:sp>
      <p:sp>
        <p:nvSpPr>
          <p:cNvPr id="9" name="Shape 7"/>
          <p:cNvSpPr/>
          <p:nvPr/>
        </p:nvSpPr>
        <p:spPr>
          <a:xfrm>
            <a:off x="274320" y="1929384"/>
            <a:ext cx="8595360" cy="868680"/>
          </a:xfrm>
          <a:prstGeom prst="rect">
            <a:avLst/>
          </a:prstGeom>
          <a:solidFill>
            <a:srgbClr val="F8F9FF"/>
          </a:solidFill>
          <a:ln w="6350">
            <a:solidFill>
              <a:srgbClr val="D0D8F0"/>
            </a:solidFill>
            <a:prstDash val="solid"/>
          </a:ln>
        </p:spPr>
      </p:sp>
      <p:sp>
        <p:nvSpPr>
          <p:cNvPr id="10" name="Shape 8"/>
          <p:cNvSpPr/>
          <p:nvPr/>
        </p:nvSpPr>
        <p:spPr>
          <a:xfrm>
            <a:off x="274320" y="1929384"/>
            <a:ext cx="777240" cy="868680"/>
          </a:xfrm>
          <a:prstGeom prst="rect">
            <a:avLst/>
          </a:prstGeom>
          <a:solidFill>
            <a:srgbClr val="FEE2E2"/>
          </a:solidFill>
          <a:ln w="12700">
            <a:solidFill>
              <a:srgbClr val="FEE2E2"/>
            </a:solidFill>
            <a:prstDash val="solid"/>
          </a:ln>
        </p:spPr>
      </p:sp>
      <p:sp>
        <p:nvSpPr>
          <p:cNvPr id="11" name="Text 9"/>
          <p:cNvSpPr/>
          <p:nvPr/>
        </p:nvSpPr>
        <p:spPr>
          <a:xfrm>
            <a:off x="274320" y="1929384"/>
            <a:ext cx="777240" cy="868680"/>
          </a:xfrm>
          <a:prstGeom prst="rect">
            <a:avLst/>
          </a:prstGeom>
          <a:noFill/>
          <a:ln/>
        </p:spPr>
        <p:txBody>
          <a:bodyPr wrap="square" rtlCol="0" anchor="ctr"/>
          <a:lstStyle/>
          <a:p>
            <a:pPr marL="0" indent="0" algn="ctr">
              <a:buNone/>
            </a:pPr>
            <a:r>
              <a:rPr lang="en-US" sz="1100" b="1" dirty="0">
                <a:solidFill>
                  <a:srgbClr val="991B1B"/>
                </a:solidFill>
              </a:rPr>
              <a:t>HIGH</a:t>
            </a:r>
            <a:endParaRPr lang="en-US" sz="1100" dirty="0"/>
          </a:p>
        </p:txBody>
      </p:sp>
      <p:sp>
        <p:nvSpPr>
          <p:cNvPr id="12" name="Text 10"/>
          <p:cNvSpPr/>
          <p:nvPr/>
        </p:nvSpPr>
        <p:spPr>
          <a:xfrm>
            <a:off x="1143000" y="1993392"/>
            <a:ext cx="2926080" cy="365760"/>
          </a:xfrm>
          <a:prstGeom prst="rect">
            <a:avLst/>
          </a:prstGeom>
          <a:noFill/>
          <a:ln/>
        </p:spPr>
        <p:txBody>
          <a:bodyPr wrap="square" rtlCol="0" anchor="ctr"/>
          <a:lstStyle/>
          <a:p>
            <a:pPr marL="0" indent="0">
              <a:buNone/>
            </a:pPr>
            <a:r>
              <a:rPr lang="en-US" sz="1300" b="1" dirty="0">
                <a:solidFill>
                  <a:srgbClr val="1A1F4B"/>
                </a:solidFill>
              </a:rPr>
              <a:t>Integration failures with legacy systems</a:t>
            </a:r>
            <a:endParaRPr lang="en-US" sz="1300" dirty="0"/>
          </a:p>
        </p:txBody>
      </p:sp>
      <p:sp>
        <p:nvSpPr>
          <p:cNvPr id="13" name="Text 11"/>
          <p:cNvSpPr/>
          <p:nvPr/>
        </p:nvSpPr>
        <p:spPr>
          <a:xfrm>
            <a:off x="1143000" y="2359152"/>
            <a:ext cx="7635240" cy="365760"/>
          </a:xfrm>
          <a:prstGeom prst="rect">
            <a:avLst/>
          </a:prstGeom>
          <a:noFill/>
          <a:ln/>
        </p:spPr>
        <p:txBody>
          <a:bodyPr wrap="square" rtlCol="0" anchor="ctr"/>
          <a:lstStyle/>
          <a:p>
            <a:pPr marL="0" indent="0">
              <a:buNone/>
            </a:pPr>
            <a:r>
              <a:rPr lang="en-US" sz="1100" i="1" dirty="0">
                <a:solidFill>
                  <a:srgbClr val="5A6080"/>
                </a:solidFill>
              </a:rPr>
              <a:t>Mitigation: Conduct full system audit in week 1, run parallel testing before go-live, keep IT on standby during launch.</a:t>
            </a:r>
            <a:endParaRPr lang="en-US" sz="1100" dirty="0"/>
          </a:p>
        </p:txBody>
      </p:sp>
      <p:sp>
        <p:nvSpPr>
          <p:cNvPr id="14" name="Shape 12"/>
          <p:cNvSpPr/>
          <p:nvPr/>
        </p:nvSpPr>
        <p:spPr>
          <a:xfrm>
            <a:off x="274320" y="2898648"/>
            <a:ext cx="8595360" cy="868680"/>
          </a:xfrm>
          <a:prstGeom prst="rect">
            <a:avLst/>
          </a:prstGeom>
          <a:solidFill>
            <a:srgbClr val="F8F9FF"/>
          </a:solidFill>
          <a:ln w="6350">
            <a:solidFill>
              <a:srgbClr val="D0D8F0"/>
            </a:solidFill>
            <a:prstDash val="solid"/>
          </a:ln>
        </p:spPr>
      </p:sp>
      <p:sp>
        <p:nvSpPr>
          <p:cNvPr id="15" name="Shape 13"/>
          <p:cNvSpPr/>
          <p:nvPr/>
        </p:nvSpPr>
        <p:spPr>
          <a:xfrm>
            <a:off x="274320" y="2898648"/>
            <a:ext cx="777240" cy="868680"/>
          </a:xfrm>
          <a:prstGeom prst="rect">
            <a:avLst/>
          </a:prstGeom>
          <a:solidFill>
            <a:srgbClr val="FEF3C7"/>
          </a:solidFill>
          <a:ln w="12700">
            <a:solidFill>
              <a:srgbClr val="FEF3C7"/>
            </a:solidFill>
            <a:prstDash val="solid"/>
          </a:ln>
        </p:spPr>
      </p:sp>
      <p:sp>
        <p:nvSpPr>
          <p:cNvPr id="16" name="Text 14"/>
          <p:cNvSpPr/>
          <p:nvPr/>
        </p:nvSpPr>
        <p:spPr>
          <a:xfrm>
            <a:off x="274320" y="2898648"/>
            <a:ext cx="777240" cy="868680"/>
          </a:xfrm>
          <a:prstGeom prst="rect">
            <a:avLst/>
          </a:prstGeom>
          <a:noFill/>
          <a:ln/>
        </p:spPr>
        <p:txBody>
          <a:bodyPr wrap="square" rtlCol="0" anchor="ctr"/>
          <a:lstStyle/>
          <a:p>
            <a:pPr marL="0" indent="0" algn="ctr">
              <a:buNone/>
            </a:pPr>
            <a:r>
              <a:rPr lang="en-US" sz="1100" b="1" dirty="0">
                <a:solidFill>
                  <a:srgbClr val="B45309"/>
                </a:solidFill>
              </a:rPr>
              <a:t>MED</a:t>
            </a:r>
            <a:endParaRPr lang="en-US" sz="1100" dirty="0"/>
          </a:p>
        </p:txBody>
      </p:sp>
      <p:sp>
        <p:nvSpPr>
          <p:cNvPr id="17" name="Text 15"/>
          <p:cNvSpPr/>
          <p:nvPr/>
        </p:nvSpPr>
        <p:spPr>
          <a:xfrm>
            <a:off x="1143000" y="2962656"/>
            <a:ext cx="2926080" cy="365760"/>
          </a:xfrm>
          <a:prstGeom prst="rect">
            <a:avLst/>
          </a:prstGeom>
          <a:noFill/>
          <a:ln/>
        </p:spPr>
        <p:txBody>
          <a:bodyPr wrap="square" rtlCol="0" anchor="ctr"/>
          <a:lstStyle/>
          <a:p>
            <a:pPr marL="0" indent="0">
              <a:buNone/>
            </a:pPr>
            <a:r>
              <a:rPr lang="en-US" sz="1300" b="1" dirty="0">
                <a:solidFill>
                  <a:srgbClr val="1A1F4B"/>
                </a:solidFill>
              </a:rPr>
              <a:t>Insufficient training coverage</a:t>
            </a:r>
            <a:endParaRPr lang="en-US" sz="1300" dirty="0"/>
          </a:p>
        </p:txBody>
      </p:sp>
      <p:sp>
        <p:nvSpPr>
          <p:cNvPr id="18" name="Text 16"/>
          <p:cNvSpPr/>
          <p:nvPr/>
        </p:nvSpPr>
        <p:spPr>
          <a:xfrm>
            <a:off x="1143000" y="3328416"/>
            <a:ext cx="7635240" cy="365760"/>
          </a:xfrm>
          <a:prstGeom prst="rect">
            <a:avLst/>
          </a:prstGeom>
          <a:noFill/>
          <a:ln/>
        </p:spPr>
        <p:txBody>
          <a:bodyPr wrap="square" rtlCol="0" anchor="ctr"/>
          <a:lstStyle/>
          <a:p>
            <a:pPr marL="0" indent="0">
              <a:buNone/>
            </a:pPr>
            <a:r>
              <a:rPr lang="en-US" sz="1100" i="1" dirty="0">
                <a:solidFill>
                  <a:srgbClr val="5A6080"/>
                </a:solidFill>
              </a:rPr>
              <a:t>Mitigation: Multiple session slots, recorded sessions for async access, designated in-team super users.</a:t>
            </a:r>
            <a:endParaRPr lang="en-US" sz="1100" dirty="0"/>
          </a:p>
        </p:txBody>
      </p:sp>
      <p:sp>
        <p:nvSpPr>
          <p:cNvPr id="19" name="Shape 17"/>
          <p:cNvSpPr/>
          <p:nvPr/>
        </p:nvSpPr>
        <p:spPr>
          <a:xfrm>
            <a:off x="274320" y="3867912"/>
            <a:ext cx="8595360" cy="868680"/>
          </a:xfrm>
          <a:prstGeom prst="rect">
            <a:avLst/>
          </a:prstGeom>
          <a:solidFill>
            <a:srgbClr val="F8F9FF"/>
          </a:solidFill>
          <a:ln w="6350">
            <a:solidFill>
              <a:srgbClr val="D0D8F0"/>
            </a:solidFill>
            <a:prstDash val="solid"/>
          </a:ln>
        </p:spPr>
      </p:sp>
      <p:sp>
        <p:nvSpPr>
          <p:cNvPr id="20" name="Shape 18"/>
          <p:cNvSpPr/>
          <p:nvPr/>
        </p:nvSpPr>
        <p:spPr>
          <a:xfrm>
            <a:off x="274320" y="3867912"/>
            <a:ext cx="777240" cy="868680"/>
          </a:xfrm>
          <a:prstGeom prst="rect">
            <a:avLst/>
          </a:prstGeom>
          <a:solidFill>
            <a:srgbClr val="FEF3C7"/>
          </a:solidFill>
          <a:ln w="12700">
            <a:solidFill>
              <a:srgbClr val="FEF3C7"/>
            </a:solidFill>
            <a:prstDash val="solid"/>
          </a:ln>
        </p:spPr>
      </p:sp>
      <p:sp>
        <p:nvSpPr>
          <p:cNvPr id="21" name="Text 19"/>
          <p:cNvSpPr/>
          <p:nvPr/>
        </p:nvSpPr>
        <p:spPr>
          <a:xfrm>
            <a:off x="274320" y="3867912"/>
            <a:ext cx="777240" cy="868680"/>
          </a:xfrm>
          <a:prstGeom prst="rect">
            <a:avLst/>
          </a:prstGeom>
          <a:noFill/>
          <a:ln/>
        </p:spPr>
        <p:txBody>
          <a:bodyPr wrap="square" rtlCol="0" anchor="ctr"/>
          <a:lstStyle/>
          <a:p>
            <a:pPr marL="0" indent="0" algn="ctr">
              <a:buNone/>
            </a:pPr>
            <a:r>
              <a:rPr lang="en-US" sz="1100" b="1" dirty="0">
                <a:solidFill>
                  <a:srgbClr val="B45309"/>
                </a:solidFill>
              </a:rPr>
              <a:t>MED</a:t>
            </a:r>
            <a:endParaRPr lang="en-US" sz="1100" dirty="0"/>
          </a:p>
        </p:txBody>
      </p:sp>
      <p:sp>
        <p:nvSpPr>
          <p:cNvPr id="22" name="Text 20"/>
          <p:cNvSpPr/>
          <p:nvPr/>
        </p:nvSpPr>
        <p:spPr>
          <a:xfrm>
            <a:off x="1143000" y="3931920"/>
            <a:ext cx="2926080" cy="365760"/>
          </a:xfrm>
          <a:prstGeom prst="rect">
            <a:avLst/>
          </a:prstGeom>
          <a:noFill/>
          <a:ln/>
        </p:spPr>
        <p:txBody>
          <a:bodyPr wrap="square" rtlCol="0" anchor="ctr"/>
          <a:lstStyle/>
          <a:p>
            <a:pPr marL="0" indent="0">
              <a:buNone/>
            </a:pPr>
            <a:r>
              <a:rPr lang="en-US" sz="1300" b="1" dirty="0">
                <a:solidFill>
                  <a:srgbClr val="1A1F4B"/>
                </a:solidFill>
              </a:rPr>
              <a:t>Low post-launch adoption</a:t>
            </a:r>
            <a:endParaRPr lang="en-US" sz="1300" dirty="0"/>
          </a:p>
        </p:txBody>
      </p:sp>
      <p:sp>
        <p:nvSpPr>
          <p:cNvPr id="23" name="Text 21"/>
          <p:cNvSpPr/>
          <p:nvPr/>
        </p:nvSpPr>
        <p:spPr>
          <a:xfrm>
            <a:off x="1143000" y="4297680"/>
            <a:ext cx="7635240" cy="365760"/>
          </a:xfrm>
          <a:prstGeom prst="rect">
            <a:avLst/>
          </a:prstGeom>
          <a:noFill/>
          <a:ln/>
        </p:spPr>
        <p:txBody>
          <a:bodyPr wrap="square" rtlCol="0" anchor="ctr"/>
          <a:lstStyle/>
          <a:p>
            <a:pPr marL="0" indent="0">
              <a:buNone/>
            </a:pPr>
            <a:r>
              <a:rPr lang="en-US" sz="1100" i="1" dirty="0">
                <a:solidFill>
                  <a:srgbClr val="5A6080"/>
                </a:solidFill>
              </a:rPr>
              <a:t>Mitigation: Weekly adoption tracking, feedback loops, management encouragement, and quick-win showcases.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0"/>
            <a:ext cx="8229600" cy="777240"/>
          </a:xfrm>
          <a:prstGeom prst="rect">
            <a:avLst/>
          </a:prstGeom>
          <a:noFill/>
          <a:ln/>
        </p:spPr>
        <p:txBody>
          <a:bodyPr wrap="square" rtlCol="0" anchor="ctr"/>
          <a:lstStyle/>
          <a:p>
            <a:pPr marL="0" indent="0">
              <a:buNone/>
            </a:pPr>
            <a:r>
              <a:rPr lang="en-US" sz="2600" b="1" dirty="0">
                <a:solidFill>
                  <a:srgbClr val="FFFFFF"/>
                </a:solidFill>
              </a:rPr>
              <a:t>Stakeholders &amp; Responsibilities</a:t>
            </a:r>
            <a:endParaRPr lang="en-US" sz="2600" dirty="0"/>
          </a:p>
        </p:txBody>
      </p:sp>
      <p:sp>
        <p:nvSpPr>
          <p:cNvPr id="4" name="Shape 2"/>
          <p:cNvSpPr/>
          <p:nvPr/>
        </p:nvSpPr>
        <p:spPr>
          <a:xfrm>
            <a:off x="274320" y="960120"/>
            <a:ext cx="8595360" cy="694944"/>
          </a:xfrm>
          <a:prstGeom prst="rect">
            <a:avLst/>
          </a:prstGeom>
          <a:solidFill>
            <a:srgbClr val="E3F2FD"/>
          </a:solidFill>
          <a:ln w="6350">
            <a:solidFill>
              <a:srgbClr val="1565C0"/>
            </a:solidFill>
            <a:prstDash val="solid"/>
          </a:ln>
        </p:spPr>
      </p:sp>
      <p:sp>
        <p:nvSpPr>
          <p:cNvPr id="5" name="Shape 3"/>
          <p:cNvSpPr/>
          <p:nvPr/>
        </p:nvSpPr>
        <p:spPr>
          <a:xfrm>
            <a:off x="274320" y="960120"/>
            <a:ext cx="109728" cy="694944"/>
          </a:xfrm>
          <a:prstGeom prst="rect">
            <a:avLst/>
          </a:prstGeom>
          <a:solidFill>
            <a:srgbClr val="1565C0"/>
          </a:solidFill>
          <a:ln w="12700">
            <a:solidFill>
              <a:srgbClr val="1565C0"/>
            </a:solidFill>
            <a:prstDash val="solid"/>
          </a:ln>
        </p:spPr>
      </p:sp>
      <p:sp>
        <p:nvSpPr>
          <p:cNvPr id="6" name="Text 4"/>
          <p:cNvSpPr/>
          <p:nvPr/>
        </p:nvSpPr>
        <p:spPr>
          <a:xfrm>
            <a:off x="502920" y="987552"/>
            <a:ext cx="2286000" cy="320040"/>
          </a:xfrm>
          <a:prstGeom prst="rect">
            <a:avLst/>
          </a:prstGeom>
          <a:noFill/>
          <a:ln/>
        </p:spPr>
        <p:txBody>
          <a:bodyPr wrap="square" rtlCol="0" anchor="ctr"/>
          <a:lstStyle/>
          <a:p>
            <a:pPr marL="0" indent="0">
              <a:buNone/>
            </a:pPr>
            <a:r>
              <a:rPr lang="en-US" sz="1300" b="1" dirty="0">
                <a:solidFill>
                  <a:srgbClr val="1565C0"/>
                </a:solidFill>
              </a:rPr>
              <a:t>Project Manager</a:t>
            </a:r>
            <a:endParaRPr lang="en-US" sz="1300" dirty="0"/>
          </a:p>
        </p:txBody>
      </p:sp>
      <p:sp>
        <p:nvSpPr>
          <p:cNvPr id="7" name="Text 5"/>
          <p:cNvSpPr/>
          <p:nvPr/>
        </p:nvSpPr>
        <p:spPr>
          <a:xfrm>
            <a:off x="502920" y="1298448"/>
            <a:ext cx="8138160" cy="320040"/>
          </a:xfrm>
          <a:prstGeom prst="rect">
            <a:avLst/>
          </a:prstGeom>
          <a:noFill/>
          <a:ln/>
        </p:spPr>
        <p:txBody>
          <a:bodyPr wrap="square" rtlCol="0" anchor="ctr"/>
          <a:lstStyle/>
          <a:p>
            <a:pPr marL="0" indent="0">
              <a:buNone/>
            </a:pPr>
            <a:r>
              <a:rPr lang="en-US" sz="1200" dirty="0">
                <a:solidFill>
                  <a:srgbClr val="5A6080"/>
                </a:solidFill>
              </a:rPr>
              <a:t>Oversees the full plan, timelines, and reporting across all phases.</a:t>
            </a:r>
            <a:endParaRPr lang="en-US" sz="1200" dirty="0"/>
          </a:p>
        </p:txBody>
      </p:sp>
      <p:sp>
        <p:nvSpPr>
          <p:cNvPr id="8" name="Shape 6"/>
          <p:cNvSpPr/>
          <p:nvPr/>
        </p:nvSpPr>
        <p:spPr>
          <a:xfrm>
            <a:off x="274320" y="1737360"/>
            <a:ext cx="8595360" cy="694944"/>
          </a:xfrm>
          <a:prstGeom prst="rect">
            <a:avLst/>
          </a:prstGeom>
          <a:solidFill>
            <a:srgbClr val="E8F5E9"/>
          </a:solidFill>
          <a:ln w="6350">
            <a:solidFill>
              <a:srgbClr val="2E7D32"/>
            </a:solidFill>
            <a:prstDash val="solid"/>
          </a:ln>
        </p:spPr>
        <p:txBody>
          <a:bodyPr/>
          <a:lstStyle/>
          <a:p>
            <a:endParaRPr lang="en-US" dirty="0"/>
          </a:p>
        </p:txBody>
      </p:sp>
      <p:sp>
        <p:nvSpPr>
          <p:cNvPr id="9" name="Shape 7"/>
          <p:cNvSpPr/>
          <p:nvPr/>
        </p:nvSpPr>
        <p:spPr>
          <a:xfrm>
            <a:off x="274320" y="1737360"/>
            <a:ext cx="109728" cy="694944"/>
          </a:xfrm>
          <a:prstGeom prst="rect">
            <a:avLst/>
          </a:prstGeom>
          <a:solidFill>
            <a:srgbClr val="2E7D32"/>
          </a:solidFill>
          <a:ln w="12700">
            <a:solidFill>
              <a:srgbClr val="2E7D32"/>
            </a:solidFill>
            <a:prstDash val="solid"/>
          </a:ln>
        </p:spPr>
      </p:sp>
      <p:sp>
        <p:nvSpPr>
          <p:cNvPr id="10" name="Text 8"/>
          <p:cNvSpPr/>
          <p:nvPr/>
        </p:nvSpPr>
        <p:spPr>
          <a:xfrm>
            <a:off x="502920" y="1764792"/>
            <a:ext cx="2286000" cy="320040"/>
          </a:xfrm>
          <a:prstGeom prst="rect">
            <a:avLst/>
          </a:prstGeom>
          <a:noFill/>
          <a:ln/>
        </p:spPr>
        <p:txBody>
          <a:bodyPr wrap="square" rtlCol="0" anchor="ctr"/>
          <a:lstStyle/>
          <a:p>
            <a:pPr marL="0" indent="0">
              <a:buNone/>
            </a:pPr>
            <a:r>
              <a:rPr lang="en-US" sz="1300" b="1" dirty="0">
                <a:solidFill>
                  <a:srgbClr val="2E7D32"/>
                </a:solidFill>
              </a:rPr>
              <a:t>IT Department</a:t>
            </a:r>
            <a:endParaRPr lang="en-US" sz="1300" dirty="0"/>
          </a:p>
        </p:txBody>
      </p:sp>
      <p:sp>
        <p:nvSpPr>
          <p:cNvPr id="11" name="Text 9"/>
          <p:cNvSpPr/>
          <p:nvPr/>
        </p:nvSpPr>
        <p:spPr>
          <a:xfrm>
            <a:off x="502920" y="2075688"/>
            <a:ext cx="8138160" cy="320040"/>
          </a:xfrm>
          <a:prstGeom prst="rect">
            <a:avLst/>
          </a:prstGeom>
          <a:noFill/>
          <a:ln/>
        </p:spPr>
        <p:txBody>
          <a:bodyPr wrap="square" rtlCol="0" anchor="ctr"/>
          <a:lstStyle/>
          <a:p>
            <a:pPr marL="0" indent="0">
              <a:buNone/>
            </a:pPr>
            <a:r>
              <a:rPr lang="en-US" sz="1200" dirty="0">
                <a:solidFill>
                  <a:srgbClr val="5A6080"/>
                </a:solidFill>
              </a:rPr>
              <a:t>Handles installation, configuration, integration, and technical support.</a:t>
            </a:r>
            <a:endParaRPr lang="en-US" sz="1200" dirty="0"/>
          </a:p>
        </p:txBody>
      </p:sp>
      <p:sp>
        <p:nvSpPr>
          <p:cNvPr id="12" name="Shape 10"/>
          <p:cNvSpPr/>
          <p:nvPr/>
        </p:nvSpPr>
        <p:spPr>
          <a:xfrm>
            <a:off x="274320" y="2514600"/>
            <a:ext cx="8595360" cy="694944"/>
          </a:xfrm>
          <a:prstGeom prst="rect">
            <a:avLst/>
          </a:prstGeom>
          <a:solidFill>
            <a:srgbClr val="F3E5F5"/>
          </a:solidFill>
          <a:ln w="6350">
            <a:solidFill>
              <a:srgbClr val="6A1B9A"/>
            </a:solidFill>
            <a:prstDash val="solid"/>
          </a:ln>
        </p:spPr>
      </p:sp>
      <p:sp>
        <p:nvSpPr>
          <p:cNvPr id="13" name="Shape 11"/>
          <p:cNvSpPr/>
          <p:nvPr/>
        </p:nvSpPr>
        <p:spPr>
          <a:xfrm>
            <a:off x="274320" y="2514600"/>
            <a:ext cx="109728" cy="694944"/>
          </a:xfrm>
          <a:prstGeom prst="rect">
            <a:avLst/>
          </a:prstGeom>
          <a:solidFill>
            <a:srgbClr val="6A1B9A"/>
          </a:solidFill>
          <a:ln w="12700">
            <a:solidFill>
              <a:srgbClr val="6A1B9A"/>
            </a:solidFill>
            <a:prstDash val="solid"/>
          </a:ln>
        </p:spPr>
      </p:sp>
      <p:sp>
        <p:nvSpPr>
          <p:cNvPr id="14" name="Text 12"/>
          <p:cNvSpPr/>
          <p:nvPr/>
        </p:nvSpPr>
        <p:spPr>
          <a:xfrm>
            <a:off x="502920" y="2542032"/>
            <a:ext cx="2286000" cy="320040"/>
          </a:xfrm>
          <a:prstGeom prst="rect">
            <a:avLst/>
          </a:prstGeom>
          <a:noFill/>
          <a:ln/>
        </p:spPr>
        <p:txBody>
          <a:bodyPr wrap="square" rtlCol="0" anchor="ctr"/>
          <a:lstStyle/>
          <a:p>
            <a:pPr marL="0" indent="0">
              <a:buNone/>
            </a:pPr>
            <a:r>
              <a:rPr lang="en-US" sz="1300" b="1" dirty="0">
                <a:solidFill>
                  <a:srgbClr val="6A1B9A"/>
                </a:solidFill>
              </a:rPr>
              <a:t>HR / L&amp;D Team</a:t>
            </a:r>
            <a:endParaRPr lang="en-US" sz="1300" dirty="0"/>
          </a:p>
        </p:txBody>
      </p:sp>
      <p:sp>
        <p:nvSpPr>
          <p:cNvPr id="15" name="Text 13"/>
          <p:cNvSpPr/>
          <p:nvPr/>
        </p:nvSpPr>
        <p:spPr>
          <a:xfrm>
            <a:off x="502920" y="2852928"/>
            <a:ext cx="8138160" cy="320040"/>
          </a:xfrm>
          <a:prstGeom prst="rect">
            <a:avLst/>
          </a:prstGeom>
          <a:noFill/>
          <a:ln/>
        </p:spPr>
        <p:txBody>
          <a:bodyPr wrap="square" rtlCol="0" anchor="ctr"/>
          <a:lstStyle/>
          <a:p>
            <a:pPr marL="0" indent="0">
              <a:buNone/>
            </a:pPr>
            <a:r>
              <a:rPr lang="en-US" sz="1200" dirty="0">
                <a:solidFill>
                  <a:srgbClr val="5A6080"/>
                </a:solidFill>
              </a:rPr>
              <a:t>Organises and delivers structured training sessions for all staff.</a:t>
            </a:r>
            <a:endParaRPr lang="en-US" sz="1200" dirty="0"/>
          </a:p>
        </p:txBody>
      </p:sp>
      <p:sp>
        <p:nvSpPr>
          <p:cNvPr id="16" name="Shape 14"/>
          <p:cNvSpPr/>
          <p:nvPr/>
        </p:nvSpPr>
        <p:spPr>
          <a:xfrm>
            <a:off x="274320" y="3291840"/>
            <a:ext cx="8595360" cy="694944"/>
          </a:xfrm>
          <a:prstGeom prst="rect">
            <a:avLst/>
          </a:prstGeom>
          <a:solidFill>
            <a:srgbClr val="FFF3E0"/>
          </a:solidFill>
          <a:ln w="6350">
            <a:solidFill>
              <a:srgbClr val="E65100"/>
            </a:solidFill>
            <a:prstDash val="solid"/>
          </a:ln>
        </p:spPr>
      </p:sp>
      <p:sp>
        <p:nvSpPr>
          <p:cNvPr id="17" name="Shape 15"/>
          <p:cNvSpPr/>
          <p:nvPr/>
        </p:nvSpPr>
        <p:spPr>
          <a:xfrm>
            <a:off x="274320" y="3291840"/>
            <a:ext cx="109728" cy="694944"/>
          </a:xfrm>
          <a:prstGeom prst="rect">
            <a:avLst/>
          </a:prstGeom>
          <a:solidFill>
            <a:srgbClr val="E65100"/>
          </a:solidFill>
          <a:ln w="12700">
            <a:solidFill>
              <a:srgbClr val="E65100"/>
            </a:solidFill>
            <a:prstDash val="solid"/>
          </a:ln>
        </p:spPr>
      </p:sp>
      <p:sp>
        <p:nvSpPr>
          <p:cNvPr id="18" name="Text 16"/>
          <p:cNvSpPr/>
          <p:nvPr/>
        </p:nvSpPr>
        <p:spPr>
          <a:xfrm>
            <a:off x="502920" y="3319272"/>
            <a:ext cx="2286000" cy="320040"/>
          </a:xfrm>
          <a:prstGeom prst="rect">
            <a:avLst/>
          </a:prstGeom>
          <a:noFill/>
          <a:ln/>
        </p:spPr>
        <p:txBody>
          <a:bodyPr wrap="square" rtlCol="0" anchor="ctr"/>
          <a:lstStyle/>
          <a:p>
            <a:pPr marL="0" indent="0">
              <a:buNone/>
            </a:pPr>
            <a:r>
              <a:rPr lang="en-US" sz="1300" b="1" dirty="0">
                <a:solidFill>
                  <a:srgbClr val="E65100"/>
                </a:solidFill>
              </a:rPr>
              <a:t>Department Heads</a:t>
            </a:r>
            <a:endParaRPr lang="en-US" sz="1300" dirty="0"/>
          </a:p>
        </p:txBody>
      </p:sp>
      <p:sp>
        <p:nvSpPr>
          <p:cNvPr id="19" name="Text 17"/>
          <p:cNvSpPr/>
          <p:nvPr/>
        </p:nvSpPr>
        <p:spPr>
          <a:xfrm>
            <a:off x="502920" y="3630168"/>
            <a:ext cx="8138160" cy="320040"/>
          </a:xfrm>
          <a:prstGeom prst="rect">
            <a:avLst/>
          </a:prstGeom>
          <a:noFill/>
          <a:ln/>
        </p:spPr>
        <p:txBody>
          <a:bodyPr wrap="square" rtlCol="0" anchor="ctr"/>
          <a:lstStyle/>
          <a:p>
            <a:pPr marL="0" indent="0">
              <a:buNone/>
            </a:pPr>
            <a:r>
              <a:rPr lang="en-US" sz="1200" dirty="0">
                <a:solidFill>
                  <a:srgbClr val="5A6080"/>
                </a:solidFill>
              </a:rPr>
              <a:t>Ensure team participation, champion adoption, and monitor engagement.</a:t>
            </a:r>
            <a:endParaRPr lang="en-US" sz="1200" dirty="0"/>
          </a:p>
        </p:txBody>
      </p:sp>
      <p:sp>
        <p:nvSpPr>
          <p:cNvPr id="20" name="Shape 18"/>
          <p:cNvSpPr/>
          <p:nvPr/>
        </p:nvSpPr>
        <p:spPr>
          <a:xfrm>
            <a:off x="274320" y="4069080"/>
            <a:ext cx="8595360" cy="694944"/>
          </a:xfrm>
          <a:prstGeom prst="rect">
            <a:avLst/>
          </a:prstGeom>
          <a:solidFill>
            <a:srgbClr val="E8EAF6"/>
          </a:solidFill>
          <a:ln w="6350">
            <a:solidFill>
              <a:srgbClr val="1E2761"/>
            </a:solidFill>
            <a:prstDash val="solid"/>
          </a:ln>
        </p:spPr>
      </p:sp>
      <p:sp>
        <p:nvSpPr>
          <p:cNvPr id="21" name="Shape 19"/>
          <p:cNvSpPr/>
          <p:nvPr/>
        </p:nvSpPr>
        <p:spPr>
          <a:xfrm>
            <a:off x="274320" y="4069080"/>
            <a:ext cx="109728" cy="694944"/>
          </a:xfrm>
          <a:prstGeom prst="rect">
            <a:avLst/>
          </a:prstGeom>
          <a:solidFill>
            <a:srgbClr val="1E2761"/>
          </a:solidFill>
          <a:ln w="12700">
            <a:solidFill>
              <a:srgbClr val="1E2761"/>
            </a:solidFill>
            <a:prstDash val="solid"/>
          </a:ln>
        </p:spPr>
      </p:sp>
      <p:sp>
        <p:nvSpPr>
          <p:cNvPr id="22" name="Text 20"/>
          <p:cNvSpPr/>
          <p:nvPr/>
        </p:nvSpPr>
        <p:spPr>
          <a:xfrm>
            <a:off x="502920" y="4096512"/>
            <a:ext cx="2286000" cy="320040"/>
          </a:xfrm>
          <a:prstGeom prst="rect">
            <a:avLst/>
          </a:prstGeom>
          <a:noFill/>
          <a:ln/>
        </p:spPr>
        <p:txBody>
          <a:bodyPr wrap="square" rtlCol="0" anchor="ctr"/>
          <a:lstStyle/>
          <a:p>
            <a:pPr marL="0" indent="0">
              <a:buNone/>
            </a:pPr>
            <a:r>
              <a:rPr lang="en-US" sz="1300" b="1" dirty="0">
                <a:solidFill>
                  <a:srgbClr val="1E2761"/>
                </a:solidFill>
              </a:rPr>
              <a:t>All Employees</a:t>
            </a:r>
            <a:endParaRPr lang="en-US" sz="1300" dirty="0"/>
          </a:p>
        </p:txBody>
      </p:sp>
      <p:sp>
        <p:nvSpPr>
          <p:cNvPr id="23" name="Text 21"/>
          <p:cNvSpPr/>
          <p:nvPr/>
        </p:nvSpPr>
        <p:spPr>
          <a:xfrm>
            <a:off x="502920" y="4407408"/>
            <a:ext cx="8138160" cy="320040"/>
          </a:xfrm>
          <a:prstGeom prst="rect">
            <a:avLst/>
          </a:prstGeom>
          <a:noFill/>
          <a:ln/>
        </p:spPr>
        <p:txBody>
          <a:bodyPr wrap="square" rtlCol="0" anchor="ctr"/>
          <a:lstStyle/>
          <a:p>
            <a:pPr marL="0" indent="0">
              <a:buNone/>
            </a:pPr>
            <a:r>
              <a:rPr lang="en-US" sz="1200" dirty="0">
                <a:solidFill>
                  <a:srgbClr val="5A6080"/>
                </a:solidFill>
              </a:rPr>
              <a:t>Attend training, provide feedback, and use the new system daily.</a:t>
            </a:r>
            <a:endParaRPr lang="en-US" sz="1200" dirty="0"/>
          </a:p>
        </p:txBody>
      </p:sp>
      <p:sp>
        <p:nvSpPr>
          <p:cNvPr id="24" name="Shape 22"/>
          <p:cNvSpPr/>
          <p:nvPr/>
        </p:nvSpPr>
        <p:spPr>
          <a:xfrm>
            <a:off x="0" y="4800600"/>
            <a:ext cx="9144000" cy="342900"/>
          </a:xfrm>
          <a:prstGeom prst="rect">
            <a:avLst/>
          </a:prstGeom>
          <a:solidFill>
            <a:srgbClr val="1E2761"/>
          </a:solidFill>
          <a:ln w="12700">
            <a:solidFill>
              <a:srgbClr val="1E2761"/>
            </a:solidFill>
            <a:prstDash val="solid"/>
          </a:ln>
        </p:spPr>
      </p:sp>
      <p:sp>
        <p:nvSpPr>
          <p:cNvPr id="25" name="Text 23"/>
          <p:cNvSpPr/>
          <p:nvPr/>
        </p:nvSpPr>
        <p:spPr>
          <a:xfrm>
            <a:off x="365760" y="4818888"/>
            <a:ext cx="8412480" cy="320040"/>
          </a:xfrm>
          <a:prstGeom prst="rect">
            <a:avLst/>
          </a:prstGeom>
          <a:noFill/>
          <a:ln/>
        </p:spPr>
        <p:txBody>
          <a:bodyPr wrap="square" rtlCol="0" anchor="ctr"/>
          <a:lstStyle/>
          <a:p>
            <a:pPr marL="0" indent="0" algn="ctr">
              <a:buNone/>
            </a:pPr>
            <a:r>
              <a:rPr lang="en-US" sz="1000" dirty="0">
                <a:solidFill>
                  <a:srgbClr val="8A9ACC"/>
                </a:solidFill>
              </a:rPr>
              <a:t>New Software Implementation Plan  |  Scenario 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Slide|Contact Us|Single">
            <a:extLst>
              <a:ext uri="{FF2B5EF4-FFF2-40B4-BE49-F238E27FC236}">
                <a16:creationId xmlns:a16="http://schemas.microsoft.com/office/drawing/2014/main" id="{2F96E123-5B36-B62D-1BAD-605FDB862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39238"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0172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474</Words>
  <Application>Microsoft Office PowerPoint</Application>
  <PresentationFormat>On-screen Show (16:9)</PresentationFormat>
  <Paragraphs>84</Paragraphs>
  <Slides>7</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Software Implementation – Proposal &amp; Action Plan</dc:title>
  <dc:subject>PptxGenJS Presentation</dc:subject>
  <dc:creator>PptxGenJS</dc:creator>
  <cp:lastModifiedBy>Ashraf Alaa Mohamed Gad</cp:lastModifiedBy>
  <cp:revision>4</cp:revision>
  <dcterms:created xsi:type="dcterms:W3CDTF">2026-04-10T13:21:32Z</dcterms:created>
  <dcterms:modified xsi:type="dcterms:W3CDTF">2026-04-10T13:41:54Z</dcterms:modified>
</cp:coreProperties>
</file>