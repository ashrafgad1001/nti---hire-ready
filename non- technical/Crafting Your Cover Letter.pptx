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Tahoma"/>
      <p:regular r:id="rId23"/>
      <p:bold r:id="rId24"/>
    </p:embeddedFont>
    <p:embeddedFont>
      <p:font typeface="Arial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JbYOHPP5LTZF7Q2iBgB+CfcyU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Teachers may skip this game if they don’t have enough time</a:t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9"/>
          <p:cNvGrpSpPr/>
          <p:nvPr/>
        </p:nvGrpSpPr>
        <p:grpSpPr>
          <a:xfrm>
            <a:off x="0" y="2900"/>
            <a:ext cx="18288000" cy="10284100"/>
            <a:chOff x="0" y="1450"/>
            <a:chExt cx="9144000" cy="5142050"/>
          </a:xfrm>
        </p:grpSpPr>
        <p:cxnSp>
          <p:nvCxnSpPr>
            <p:cNvPr id="17" name="Google Shape;17;p19"/>
            <p:cNvCxnSpPr/>
            <p:nvPr/>
          </p:nvCxnSpPr>
          <p:spPr>
            <a:xfrm>
              <a:off x="391200" y="1481700"/>
              <a:ext cx="0" cy="366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" name="Google Shape;18;p19"/>
            <p:cNvCxnSpPr/>
            <p:nvPr/>
          </p:nvCxnSpPr>
          <p:spPr>
            <a:xfrm rot="10800000">
              <a:off x="0" y="4608500"/>
              <a:ext cx="139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" name="Google Shape;19;p19"/>
            <p:cNvSpPr/>
            <p:nvPr/>
          </p:nvSpPr>
          <p:spPr>
            <a:xfrm>
              <a:off x="6167400" y="1450"/>
              <a:ext cx="2976600" cy="200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Text  Description automatically generated" id="20" name="Google Shape;2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35" y="403700"/>
            <a:ext cx="3046730" cy="1548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  Description automatically generated" id="21" name="Google Shape;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4800" y="452008"/>
            <a:ext cx="2391744" cy="1451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 Description automatically generated" id="22" name="Google Shape;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1400" y="688207"/>
            <a:ext cx="2518360" cy="1215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 showMasterSp="0">
  <p:cSld name="Section title and 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4403700" y="3169748"/>
            <a:ext cx="94806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9pPr>
          </a:lstStyle>
          <a:p/>
        </p:txBody>
      </p:sp>
      <p:sp>
        <p:nvSpPr>
          <p:cNvPr id="29" name="Google Shape;29;p21"/>
          <p:cNvSpPr txBox="1"/>
          <p:nvPr>
            <p:ph idx="1" type="subTitle"/>
          </p:nvPr>
        </p:nvSpPr>
        <p:spPr>
          <a:xfrm>
            <a:off x="4403850" y="4855852"/>
            <a:ext cx="94806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grpSp>
        <p:nvGrpSpPr>
          <p:cNvPr id="30" name="Google Shape;30;p21"/>
          <p:cNvGrpSpPr/>
          <p:nvPr/>
        </p:nvGrpSpPr>
        <p:grpSpPr>
          <a:xfrm>
            <a:off x="786385" y="2900"/>
            <a:ext cx="17501666" cy="12875900"/>
            <a:chOff x="393192" y="1450"/>
            <a:chExt cx="8750833" cy="6437950"/>
          </a:xfrm>
        </p:grpSpPr>
        <p:cxnSp>
          <p:nvCxnSpPr>
            <p:cNvPr id="31" name="Google Shape;31;p21"/>
            <p:cNvCxnSpPr/>
            <p:nvPr/>
          </p:nvCxnSpPr>
          <p:spPr>
            <a:xfrm rot="10800000">
              <a:off x="1830900" y="2777600"/>
              <a:ext cx="0" cy="366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" name="Google Shape;32;p21"/>
            <p:cNvSpPr/>
            <p:nvPr/>
          </p:nvSpPr>
          <p:spPr>
            <a:xfrm>
              <a:off x="7848025" y="1450"/>
              <a:ext cx="1296000" cy="200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33;p21"/>
            <p:cNvCxnSpPr/>
            <p:nvPr/>
          </p:nvCxnSpPr>
          <p:spPr>
            <a:xfrm rot="-5400000">
              <a:off x="-305658" y="4444650"/>
              <a:ext cx="139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1" name="Google Shape;6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youtu.be/E_kWz09Etc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ordwall.net/resource/70272728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ordwall.net/resource/66726978" TargetMode="External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714500"/>
            <a:ext cx="18287998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 Description automatically generated" id="104" name="Google Shape;10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13085" y="1"/>
            <a:ext cx="3995650" cy="1714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  Description automatically generated" id="105" name="Google Shape;10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2790" y="181772"/>
            <a:ext cx="3794760" cy="143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  Description automatically generated" id="106" name="Google Shape;10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37336"/>
            <a:ext cx="3794760" cy="143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F7F7F">
              <a:alpha val="8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91996" y="720090"/>
            <a:ext cx="6270498" cy="4182111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8A1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691996" y="5405505"/>
            <a:ext cx="6270498" cy="4182111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8A1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919" y="5622291"/>
            <a:ext cx="5554226" cy="370744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470894" y="730635"/>
            <a:ext cx="10112773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9153452" y="828852"/>
            <a:ext cx="6742514" cy="8503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1752600" y="1828933"/>
            <a:ext cx="12461700" cy="5354311"/>
            <a:chOff x="-24345709" y="-6567439"/>
            <a:chExt cx="34447073" cy="16811968"/>
          </a:xfrm>
        </p:grpSpPr>
        <p:sp>
          <p:nvSpPr>
            <p:cNvPr id="118" name="Google Shape;118;p2"/>
            <p:cNvSpPr txBox="1"/>
            <p:nvPr/>
          </p:nvSpPr>
          <p:spPr>
            <a:xfrm>
              <a:off x="-24345709" y="-6567439"/>
              <a:ext cx="10387018" cy="9649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32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Crafting Your </a:t>
              </a:r>
              <a:endParaRPr/>
            </a:p>
            <a:p>
              <a:pPr indent="0" lvl="0" marL="0" marR="0" rtl="0" algn="ctr">
                <a:lnSpc>
                  <a:spcPct val="83333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4032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3333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0" lang="en-US" sz="4032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Cover Letter: </a:t>
              </a:r>
              <a:endParaRPr/>
            </a:p>
            <a:p>
              <a:pPr indent="0" lvl="0" marL="0" marR="0" rtl="0" algn="ctr">
                <a:lnSpc>
                  <a:spcPct val="83333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4032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3333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0" lang="en-US" sz="4032" u="none" cap="none" strike="noStrike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 Guide</a:t>
              </a:r>
              <a:endParaRPr/>
            </a:p>
            <a:p>
              <a:pPr indent="0" lvl="0" marL="0" marR="0" rtl="0" algn="ctr">
                <a:lnSpc>
                  <a:spcPct val="83333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4032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3333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47625"/>
              <a:ext cx="7799892" cy="581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-285654" y="9150097"/>
              <a:ext cx="10387018" cy="1094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416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1" name="Google Shape;12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5355" y="2466045"/>
            <a:ext cx="8498708" cy="680573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8023098" y="1582093"/>
            <a:ext cx="9144000" cy="34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3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55555"/>
                </a:solidFill>
                <a:latin typeface="Tahoma"/>
                <a:ea typeface="Tahoma"/>
                <a:cs typeface="Tahoma"/>
                <a:sym typeface="Tahoma"/>
              </a:rPr>
              <a:t>Learn to create impactful cover letters for job applications</a:t>
            </a:r>
            <a:endParaRPr b="1" i="0" sz="54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3"/>
          <p:cNvGrpSpPr/>
          <p:nvPr/>
        </p:nvGrpSpPr>
        <p:grpSpPr>
          <a:xfrm>
            <a:off x="645324" y="652676"/>
            <a:ext cx="9108276" cy="8268028"/>
            <a:chOff x="0" y="104775"/>
            <a:chExt cx="12144368" cy="7496505"/>
          </a:xfrm>
        </p:grpSpPr>
        <p:sp>
          <p:nvSpPr>
            <p:cNvPr id="128" name="Google Shape;128;p3"/>
            <p:cNvSpPr txBox="1"/>
            <p:nvPr/>
          </p:nvSpPr>
          <p:spPr>
            <a:xfrm>
              <a:off x="0" y="104775"/>
              <a:ext cx="10820400" cy="18138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Mastering Your Cover Letter</a:t>
              </a:r>
              <a:endParaRPr/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0" y="3419602"/>
              <a:ext cx="10820400" cy="1076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Here’s what we’ll cover in today’s presentation:</a:t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5333944"/>
              <a:ext cx="12144368" cy="2267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2260" lvl="1" marL="604519" marR="0" rtl="0" algn="l">
                <a:lnSpc>
                  <a:spcPct val="10886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Purpose of a cover letter</a:t>
              </a:r>
              <a:endParaRPr/>
            </a:p>
            <a:p>
              <a:pPr indent="-302260" lvl="1" marL="604519" marR="0" rtl="0" algn="l">
                <a:lnSpc>
                  <a:spcPct val="10886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Key steps for writing a cover letter</a:t>
              </a:r>
              <a:endParaRPr/>
            </a:p>
            <a:p>
              <a:pPr indent="-302260" lvl="1" marL="604519" marR="0" rtl="0" algn="l">
                <a:lnSpc>
                  <a:spcPct val="10886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Tips for successful cover letters</a:t>
              </a:r>
              <a:endParaRPr/>
            </a:p>
            <a:p>
              <a:pPr indent="-302260" lvl="1" marL="604519" marR="0" rtl="0" algn="l">
                <a:lnSpc>
                  <a:spcPct val="10886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Common mistakes to avoid</a:t>
              </a:r>
              <a:endParaRPr/>
            </a:p>
            <a:p>
              <a:pPr indent="-302260" lvl="1" marL="604519" marR="0" rtl="0" algn="l">
                <a:lnSpc>
                  <a:spcPct val="10886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Examples of effective cover letters</a:t>
              </a:r>
              <a:endParaRPr/>
            </a:p>
          </p:txBody>
        </p:sp>
      </p:grpSp>
      <p:pic>
        <p:nvPicPr>
          <p:cNvPr id="131" name="Google Shape;1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1172550"/>
            <a:ext cx="7097817" cy="8647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2057400" y="2697900"/>
            <a:ext cx="14491272" cy="16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When you send a CV, do you attach something with it, or do you send the email empty?</a:t>
            </a:r>
            <a:endParaRPr/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9928" y="4381500"/>
            <a:ext cx="6368143" cy="55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5"/>
          <p:cNvGrpSpPr/>
          <p:nvPr/>
        </p:nvGrpSpPr>
        <p:grpSpPr>
          <a:xfrm>
            <a:off x="838200" y="1943100"/>
            <a:ext cx="16611600" cy="7769890"/>
            <a:chOff x="-314785" y="1625601"/>
            <a:chExt cx="11641435" cy="10359854"/>
          </a:xfrm>
        </p:grpSpPr>
        <p:sp>
          <p:nvSpPr>
            <p:cNvPr id="144" name="Google Shape;144;p5"/>
            <p:cNvSpPr txBox="1"/>
            <p:nvPr/>
          </p:nvSpPr>
          <p:spPr>
            <a:xfrm>
              <a:off x="-261384" y="1625601"/>
              <a:ext cx="11187526" cy="2291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Understanding the Purpose of a Cover Letter</a:t>
              </a:r>
              <a:endParaRPr/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-314785" y="4733041"/>
              <a:ext cx="11641435" cy="7252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571500" lvl="0" marL="571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•"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cover letter serves as your </a:t>
              </a:r>
              <a:r>
                <a:rPr b="1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impression</a:t>
              </a:r>
              <a:r>
                <a:rPr b="0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potential employers. It highlights your interest in the role, showcases relevant skills, and motivates the reader to consider you for an interview. </a:t>
              </a:r>
              <a:endParaRPr/>
            </a:p>
            <a:p>
              <a:pPr indent="-571500" lvl="0" marL="571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•"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well-crafted cover letter can set you apart from other candidates.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61DD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6"/>
          <p:cNvGrpSpPr/>
          <p:nvPr/>
        </p:nvGrpSpPr>
        <p:grpSpPr>
          <a:xfrm>
            <a:off x="1" y="-180826"/>
            <a:ext cx="5509900" cy="10467826"/>
            <a:chOff x="0" y="-47625"/>
            <a:chExt cx="1943758" cy="2756958"/>
          </a:xfrm>
        </p:grpSpPr>
        <p:sp>
          <p:nvSpPr>
            <p:cNvPr id="151" name="Google Shape;151;p6"/>
            <p:cNvSpPr/>
            <p:nvPr/>
          </p:nvSpPr>
          <p:spPr>
            <a:xfrm>
              <a:off x="0" y="0"/>
              <a:ext cx="1943758" cy="2709333"/>
            </a:xfrm>
            <a:custGeom>
              <a:rect b="b" l="l" r="r" t="t"/>
              <a:pathLst>
                <a:path extrusionOk="0" h="2709333" w="1943758">
                  <a:moveTo>
                    <a:pt x="0" y="0"/>
                  </a:moveTo>
                  <a:lnTo>
                    <a:pt x="1943758" y="0"/>
                  </a:lnTo>
                  <a:lnTo>
                    <a:pt x="19437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C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0" y="-47625"/>
              <a:ext cx="1943758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6"/>
          <p:cNvSpPr txBox="1"/>
          <p:nvPr/>
        </p:nvSpPr>
        <p:spPr>
          <a:xfrm>
            <a:off x="398432" y="2399575"/>
            <a:ext cx="4275381" cy="429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Crafting an Effective Cover Letter</a:t>
            </a:r>
            <a:endParaRPr/>
          </a:p>
        </p:txBody>
      </p:sp>
      <p:grpSp>
        <p:nvGrpSpPr>
          <p:cNvPr id="154" name="Google Shape;154;p6"/>
          <p:cNvGrpSpPr/>
          <p:nvPr/>
        </p:nvGrpSpPr>
        <p:grpSpPr>
          <a:xfrm>
            <a:off x="5943600" y="553776"/>
            <a:ext cx="11945968" cy="3417386"/>
            <a:chOff x="0" y="-57149"/>
            <a:chExt cx="12216316" cy="4556513"/>
          </a:xfrm>
        </p:grpSpPr>
        <p:sp>
          <p:nvSpPr>
            <p:cNvPr id="155" name="Google Shape;155;p6"/>
            <p:cNvSpPr txBox="1"/>
            <p:nvPr/>
          </p:nvSpPr>
          <p:spPr>
            <a:xfrm>
              <a:off x="0" y="-57149"/>
              <a:ext cx="12216316" cy="109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Highlighting Relevant Skills</a:t>
              </a:r>
              <a:endParaRPr/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0" y="188184"/>
              <a:ext cx="12216316" cy="4311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42900" lvl="0" marL="571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Noto Sans Symbols"/>
                <a:buNone/>
              </a:pPr>
              <a:r>
                <a:t/>
              </a:r>
              <a:endPara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Showcase your </a:t>
              </a: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top qualifications</a:t>
              </a: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that align with the job description. Use specific examples to demonstrate your </a:t>
              </a: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qualifications</a:t>
              </a: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and experience.</a:t>
              </a:r>
              <a:endParaRPr/>
            </a:p>
          </p:txBody>
        </p:sp>
      </p:grpSp>
      <p:grpSp>
        <p:nvGrpSpPr>
          <p:cNvPr id="157" name="Google Shape;157;p6"/>
          <p:cNvGrpSpPr/>
          <p:nvPr/>
        </p:nvGrpSpPr>
        <p:grpSpPr>
          <a:xfrm>
            <a:off x="5899484" y="4273335"/>
            <a:ext cx="11962010" cy="2533277"/>
            <a:chOff x="-52471" y="2254111"/>
            <a:chExt cx="12232721" cy="3377704"/>
          </a:xfrm>
        </p:grpSpPr>
        <p:sp>
          <p:nvSpPr>
            <p:cNvPr id="158" name="Google Shape;158;p6"/>
            <p:cNvSpPr txBox="1"/>
            <p:nvPr/>
          </p:nvSpPr>
          <p:spPr>
            <a:xfrm>
              <a:off x="-52471" y="2254111"/>
              <a:ext cx="12216316" cy="1096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Motivating the Reader</a:t>
              </a: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-36066" y="3536625"/>
              <a:ext cx="12216316" cy="209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Inspire the hiring manager to </a:t>
              </a: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consider you</a:t>
              </a: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as a strong candidate.</a:t>
              </a:r>
              <a:endParaRPr/>
            </a:p>
          </p:txBody>
        </p:sp>
      </p:grpSp>
      <p:grpSp>
        <p:nvGrpSpPr>
          <p:cNvPr id="160" name="Google Shape;160;p6"/>
          <p:cNvGrpSpPr/>
          <p:nvPr/>
        </p:nvGrpSpPr>
        <p:grpSpPr>
          <a:xfrm>
            <a:off x="5915526" y="7285100"/>
            <a:ext cx="11974042" cy="2426066"/>
            <a:chOff x="-28709" y="2101036"/>
            <a:chExt cx="12245025" cy="3234756"/>
          </a:xfrm>
        </p:grpSpPr>
        <p:sp>
          <p:nvSpPr>
            <p:cNvPr id="161" name="Google Shape;161;p6"/>
            <p:cNvSpPr txBox="1"/>
            <p:nvPr/>
          </p:nvSpPr>
          <p:spPr>
            <a:xfrm>
              <a:off x="0" y="2101036"/>
              <a:ext cx="12216316" cy="1096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Call to Action</a:t>
              </a:r>
              <a:endParaRPr/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-28709" y="3240602"/>
              <a:ext cx="12216316" cy="209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Encourage the reader to </a:t>
              </a: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invite you for an interview</a:t>
              </a: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and discuss further.</a:t>
              </a:r>
              <a:endParaRPr/>
            </a:p>
          </p:txBody>
        </p:sp>
      </p:grpSp>
      <p:grpSp>
        <p:nvGrpSpPr>
          <p:cNvPr id="163" name="Google Shape;163;p6"/>
          <p:cNvGrpSpPr/>
          <p:nvPr/>
        </p:nvGrpSpPr>
        <p:grpSpPr>
          <a:xfrm>
            <a:off x="12778101" y="9479780"/>
            <a:ext cx="6235432" cy="3081269"/>
            <a:chOff x="0" y="0"/>
            <a:chExt cx="8313909" cy="4108359"/>
          </a:xfrm>
        </p:grpSpPr>
        <p:sp>
          <p:nvSpPr>
            <p:cNvPr id="164" name="Google Shape;164;p6"/>
            <p:cNvSpPr/>
            <p:nvPr/>
          </p:nvSpPr>
          <p:spPr>
            <a:xfrm>
              <a:off x="0" y="0"/>
              <a:ext cx="4078480" cy="4108359"/>
            </a:xfrm>
            <a:custGeom>
              <a:rect b="b" l="l" r="r" t="t"/>
              <a:pathLst>
                <a:path extrusionOk="0" h="4108359" w="4078480">
                  <a:moveTo>
                    <a:pt x="0" y="0"/>
                  </a:moveTo>
                  <a:lnTo>
                    <a:pt x="4078480" y="0"/>
                  </a:lnTo>
                  <a:lnTo>
                    <a:pt x="4078480" y="4108359"/>
                  </a:lnTo>
                  <a:lnTo>
                    <a:pt x="0" y="41083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4235429" y="0"/>
              <a:ext cx="4078480" cy="4108359"/>
            </a:xfrm>
            <a:custGeom>
              <a:rect b="b" l="l" r="r" t="t"/>
              <a:pathLst>
                <a:path extrusionOk="0" h="4108359" w="4078480">
                  <a:moveTo>
                    <a:pt x="0" y="0"/>
                  </a:moveTo>
                  <a:lnTo>
                    <a:pt x="4078480" y="0"/>
                  </a:lnTo>
                  <a:lnTo>
                    <a:pt x="4078480" y="4108359"/>
                  </a:lnTo>
                  <a:lnTo>
                    <a:pt x="0" y="41083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61DD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3320056" y="8411086"/>
            <a:ext cx="1285596" cy="1231835"/>
          </a:xfrm>
          <a:custGeom>
            <a:rect b="b" l="l" r="r" t="t"/>
            <a:pathLst>
              <a:path extrusionOk="0" h="1231835" w="1285596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110745" y="1840597"/>
            <a:ext cx="1285596" cy="1231835"/>
          </a:xfrm>
          <a:custGeom>
            <a:rect b="b" l="l" r="r" t="t"/>
            <a:pathLst>
              <a:path extrusionOk="0" h="1231835" w="1285596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7"/>
          <p:cNvGrpSpPr/>
          <p:nvPr/>
        </p:nvGrpSpPr>
        <p:grpSpPr>
          <a:xfrm>
            <a:off x="381000" y="356099"/>
            <a:ext cx="17145000" cy="2837397"/>
            <a:chOff x="-221582" y="95250"/>
            <a:chExt cx="9971189" cy="3783195"/>
          </a:xfrm>
        </p:grpSpPr>
        <p:sp>
          <p:nvSpPr>
            <p:cNvPr id="173" name="Google Shape;173;p7"/>
            <p:cNvSpPr txBox="1"/>
            <p:nvPr/>
          </p:nvSpPr>
          <p:spPr>
            <a:xfrm>
              <a:off x="0" y="95250"/>
              <a:ext cx="9749607" cy="2291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Key Steps: </a:t>
              </a:r>
              <a:endParaRPr/>
            </a:p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Reading the Job Description Thoroughly</a:t>
              </a:r>
              <a:endParaRPr/>
            </a:p>
          </p:txBody>
        </p:sp>
        <p:sp>
          <p:nvSpPr>
            <p:cNvPr id="174" name="Google Shape;174;p7"/>
            <p:cNvSpPr txBox="1"/>
            <p:nvPr/>
          </p:nvSpPr>
          <p:spPr>
            <a:xfrm>
              <a:off x="-221582" y="3160300"/>
              <a:ext cx="9749607" cy="718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Understanding the job requirements is crucial.</a:t>
              </a:r>
              <a:endParaRPr/>
            </a:p>
          </p:txBody>
        </p:sp>
      </p:grpSp>
      <p:grpSp>
        <p:nvGrpSpPr>
          <p:cNvPr id="175" name="Google Shape;175;p7"/>
          <p:cNvGrpSpPr/>
          <p:nvPr/>
        </p:nvGrpSpPr>
        <p:grpSpPr>
          <a:xfrm>
            <a:off x="453189" y="3712987"/>
            <a:ext cx="17530011" cy="1518557"/>
            <a:chOff x="0" y="-57151"/>
            <a:chExt cx="12216316" cy="2024743"/>
          </a:xfrm>
        </p:grpSpPr>
        <p:sp>
          <p:nvSpPr>
            <p:cNvPr id="176" name="Google Shape;176;p7"/>
            <p:cNvSpPr txBox="1"/>
            <p:nvPr/>
          </p:nvSpPr>
          <p:spPr>
            <a:xfrm>
              <a:off x="0" y="-57151"/>
              <a:ext cx="12216316" cy="2024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0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Customization</a:t>
              </a:r>
              <a:endParaRPr/>
            </a:p>
            <a:p>
              <a:pPr indent="0" lvl="0" marL="0" marR="0" rtl="0" algn="l">
                <a:lnSpc>
                  <a:spcPct val="890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90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0" y="721148"/>
              <a:ext cx="12216316" cy="11909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3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Tailor each letter to the job description for </a:t>
              </a:r>
              <a:r>
                <a:rPr b="1"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maximum impact</a:t>
              </a:r>
              <a:r>
                <a:rPr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pic>
        <p:nvPicPr>
          <p:cNvPr id="178" name="Google Shape;1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7691" y="6512346"/>
            <a:ext cx="7030617" cy="379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61D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3320056" y="8411086"/>
            <a:ext cx="1285596" cy="1231835"/>
          </a:xfrm>
          <a:custGeom>
            <a:rect b="b" l="l" r="r" t="t"/>
            <a:pathLst>
              <a:path extrusionOk="0" h="1231835" w="1285596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110745" y="1840597"/>
            <a:ext cx="1285596" cy="1231835"/>
          </a:xfrm>
          <a:custGeom>
            <a:rect b="b" l="l" r="r" t="t"/>
            <a:pathLst>
              <a:path extrusionOk="0" h="1231835" w="1285596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8"/>
          <p:cNvGrpSpPr/>
          <p:nvPr/>
        </p:nvGrpSpPr>
        <p:grpSpPr>
          <a:xfrm>
            <a:off x="817674" y="715516"/>
            <a:ext cx="16652651" cy="8799015"/>
            <a:chOff x="0" y="95250"/>
            <a:chExt cx="9749607" cy="11732019"/>
          </a:xfrm>
        </p:grpSpPr>
        <p:sp>
          <p:nvSpPr>
            <p:cNvPr id="186" name="Google Shape;186;p8"/>
            <p:cNvSpPr txBox="1"/>
            <p:nvPr/>
          </p:nvSpPr>
          <p:spPr>
            <a:xfrm>
              <a:off x="0" y="95250"/>
              <a:ext cx="9749607" cy="3436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Tips for Success: </a:t>
              </a:r>
              <a:endParaRPr/>
            </a:p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3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Maintaining a Professional Tone</a:t>
              </a:r>
              <a:endParaRPr/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0" y="5319683"/>
              <a:ext cx="9749607" cy="72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54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Keep your language respectful and appropriate.</a:t>
              </a:r>
              <a:endParaRPr/>
            </a:p>
          </p:txBody>
        </p:sp>
        <p:sp>
          <p:nvSpPr>
            <p:cNvPr id="188" name="Google Shape;188;p8"/>
            <p:cNvSpPr txBox="1"/>
            <p:nvPr/>
          </p:nvSpPr>
          <p:spPr>
            <a:xfrm>
              <a:off x="0" y="7516088"/>
              <a:ext cx="9749607" cy="4311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professional tone</a:t>
              </a: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reflects your seriousness about the position. Use formal language, avoid slang, and tailor your writing style to match the company's culture. This approach demonstrates your </a:t>
              </a: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attention to detail</a:t>
              </a: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and respect for the employer.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61D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9"/>
          <p:cNvGrpSpPr/>
          <p:nvPr/>
        </p:nvGrpSpPr>
        <p:grpSpPr>
          <a:xfrm>
            <a:off x="762001" y="2155461"/>
            <a:ext cx="16497300" cy="1796116"/>
            <a:chOff x="0" y="-57149"/>
            <a:chExt cx="12216316" cy="2394821"/>
          </a:xfrm>
        </p:grpSpPr>
        <p:sp>
          <p:nvSpPr>
            <p:cNvPr id="194" name="Google Shape;194;p9"/>
            <p:cNvSpPr txBox="1"/>
            <p:nvPr/>
          </p:nvSpPr>
          <p:spPr>
            <a:xfrm>
              <a:off x="0" y="-57149"/>
              <a:ext cx="12216316" cy="708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1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Proofreading Meticulously</a:t>
              </a:r>
              <a:endParaRPr/>
            </a:p>
          </p:txBody>
        </p:sp>
        <p:sp>
          <p:nvSpPr>
            <p:cNvPr id="195" name="Google Shape;195;p9"/>
            <p:cNvSpPr txBox="1"/>
            <p:nvPr/>
          </p:nvSpPr>
          <p:spPr>
            <a:xfrm>
              <a:off x="0" y="1174960"/>
              <a:ext cx="11680264" cy="1162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33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Ensure your cover letter is free from errors and </a:t>
              </a: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clearly conveys</a:t>
              </a: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your message.</a:t>
              </a:r>
              <a:endParaRPr/>
            </a:p>
          </p:txBody>
        </p:sp>
      </p:grpSp>
      <p:grpSp>
        <p:nvGrpSpPr>
          <p:cNvPr id="196" name="Google Shape;196;p9"/>
          <p:cNvGrpSpPr/>
          <p:nvPr/>
        </p:nvGrpSpPr>
        <p:grpSpPr>
          <a:xfrm>
            <a:off x="762001" y="4547599"/>
            <a:ext cx="16497300" cy="2329715"/>
            <a:chOff x="0" y="-57151"/>
            <a:chExt cx="12216316" cy="3106289"/>
          </a:xfrm>
        </p:grpSpPr>
        <p:sp>
          <p:nvSpPr>
            <p:cNvPr id="197" name="Google Shape;197;p9"/>
            <p:cNvSpPr txBox="1"/>
            <p:nvPr/>
          </p:nvSpPr>
          <p:spPr>
            <a:xfrm>
              <a:off x="0" y="-57151"/>
              <a:ext cx="12216316" cy="673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Ask Someone for Review</a:t>
              </a:r>
              <a:endParaRPr/>
            </a:p>
          </p:txBody>
        </p:sp>
        <p:sp>
          <p:nvSpPr>
            <p:cNvPr id="198" name="Google Shape;198;p9"/>
            <p:cNvSpPr txBox="1"/>
            <p:nvPr/>
          </p:nvSpPr>
          <p:spPr>
            <a:xfrm>
              <a:off x="0" y="721148"/>
              <a:ext cx="12216316" cy="2327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second pair of eyes can help catch </a:t>
              </a:r>
              <a:r>
                <a:rPr b="1"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overlooked mistakes</a:t>
              </a:r>
              <a:r>
                <a:rPr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and improve clarity.</a:t>
              </a:r>
              <a:endParaRPr/>
            </a:p>
          </p:txBody>
        </p:sp>
      </p:grpSp>
      <p:grpSp>
        <p:nvGrpSpPr>
          <p:cNvPr id="199" name="Google Shape;199;p9"/>
          <p:cNvGrpSpPr/>
          <p:nvPr/>
        </p:nvGrpSpPr>
        <p:grpSpPr>
          <a:xfrm>
            <a:off x="762001" y="7874695"/>
            <a:ext cx="16497300" cy="2155116"/>
            <a:chOff x="0" y="-57151"/>
            <a:chExt cx="12216316" cy="2873489"/>
          </a:xfrm>
        </p:grpSpPr>
        <p:sp>
          <p:nvSpPr>
            <p:cNvPr id="200" name="Google Shape;200;p9"/>
            <p:cNvSpPr txBox="1"/>
            <p:nvPr/>
          </p:nvSpPr>
          <p:spPr>
            <a:xfrm>
              <a:off x="0" y="-57151"/>
              <a:ext cx="12216316" cy="673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Check Grammar and Spelling</a:t>
              </a:r>
              <a:endParaRPr/>
            </a:p>
          </p:txBody>
        </p:sp>
        <p:sp>
          <p:nvSpPr>
            <p:cNvPr id="201" name="Google Shape;201;p9"/>
            <p:cNvSpPr txBox="1"/>
            <p:nvPr/>
          </p:nvSpPr>
          <p:spPr>
            <a:xfrm>
              <a:off x="0" y="721148"/>
              <a:ext cx="12216316" cy="209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Utilize tools or resources to ensure </a:t>
              </a: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professional tone</a:t>
              </a: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and accuracy in your writing.</a:t>
              </a:r>
              <a:endParaRPr/>
            </a:p>
          </p:txBody>
        </p:sp>
      </p:grpSp>
      <p:grpSp>
        <p:nvGrpSpPr>
          <p:cNvPr id="202" name="Google Shape;202;p9"/>
          <p:cNvGrpSpPr/>
          <p:nvPr/>
        </p:nvGrpSpPr>
        <p:grpSpPr>
          <a:xfrm>
            <a:off x="12778101" y="9479780"/>
            <a:ext cx="6235432" cy="3081269"/>
            <a:chOff x="0" y="0"/>
            <a:chExt cx="8313909" cy="4108359"/>
          </a:xfrm>
        </p:grpSpPr>
        <p:sp>
          <p:nvSpPr>
            <p:cNvPr id="203" name="Google Shape;203;p9"/>
            <p:cNvSpPr/>
            <p:nvPr/>
          </p:nvSpPr>
          <p:spPr>
            <a:xfrm>
              <a:off x="0" y="0"/>
              <a:ext cx="4078480" cy="4108359"/>
            </a:xfrm>
            <a:custGeom>
              <a:rect b="b" l="l" r="r" t="t"/>
              <a:pathLst>
                <a:path extrusionOk="0" h="4108359" w="4078480">
                  <a:moveTo>
                    <a:pt x="0" y="0"/>
                  </a:moveTo>
                  <a:lnTo>
                    <a:pt x="4078480" y="0"/>
                  </a:lnTo>
                  <a:lnTo>
                    <a:pt x="4078480" y="4108359"/>
                  </a:lnTo>
                  <a:lnTo>
                    <a:pt x="0" y="41083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4235429" y="0"/>
              <a:ext cx="4078480" cy="4108359"/>
            </a:xfrm>
            <a:custGeom>
              <a:rect b="b" l="l" r="r" t="t"/>
              <a:pathLst>
                <a:path extrusionOk="0" h="4108359" w="4078480">
                  <a:moveTo>
                    <a:pt x="0" y="0"/>
                  </a:moveTo>
                  <a:lnTo>
                    <a:pt x="4078480" y="0"/>
                  </a:lnTo>
                  <a:lnTo>
                    <a:pt x="4078480" y="4108359"/>
                  </a:lnTo>
                  <a:lnTo>
                    <a:pt x="0" y="41083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9"/>
          <p:cNvSpPr txBox="1"/>
          <p:nvPr/>
        </p:nvSpPr>
        <p:spPr>
          <a:xfrm>
            <a:off x="381000" y="267162"/>
            <a:ext cx="9504946" cy="951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1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Tips for Success: </a:t>
            </a:r>
            <a:endParaRPr/>
          </a:p>
        </p:txBody>
      </p:sp>
      <p:pic>
        <p:nvPicPr>
          <p:cNvPr id="206" name="Google Shape;2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30872" y="55484"/>
            <a:ext cx="2161259" cy="2669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0C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ctrTitle"/>
          </p:nvPr>
        </p:nvSpPr>
        <p:spPr>
          <a:xfrm>
            <a:off x="3120043" y="2559723"/>
            <a:ext cx="12454662" cy="1160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/>
              <a:buNone/>
            </a:pPr>
            <a:r>
              <a:rPr b="1" lang="en-US" sz="1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Cover letter vs. CV</a:t>
            </a:r>
            <a:endParaRPr/>
          </a:p>
        </p:txBody>
      </p:sp>
      <p:sp>
        <p:nvSpPr>
          <p:cNvPr id="212" name="Google Shape;212;p10"/>
          <p:cNvSpPr txBox="1"/>
          <p:nvPr>
            <p:ph idx="1" type="subTitle"/>
          </p:nvPr>
        </p:nvSpPr>
        <p:spPr>
          <a:xfrm>
            <a:off x="4898074" y="9344752"/>
            <a:ext cx="88986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https://youtu.be/E_kWz09Etcc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5410200" y="342900"/>
            <a:ext cx="6663266" cy="1323439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Video Time</a:t>
            </a:r>
            <a:endParaRPr/>
          </a:p>
        </p:txBody>
      </p:sp>
      <p:sp>
        <p:nvSpPr>
          <p:cNvPr id="214" name="Google Shape;214;p10"/>
          <p:cNvSpPr txBox="1"/>
          <p:nvPr/>
        </p:nvSpPr>
        <p:spPr>
          <a:xfrm>
            <a:off x="156070" y="4270184"/>
            <a:ext cx="1758038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0" lvl="0" marL="1143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Char char="•"/>
            </a:pPr>
            <a:r>
              <a:rPr lang="en-U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Watch the video . </a:t>
            </a:r>
            <a:endParaRPr/>
          </a:p>
          <a:p>
            <a:pPr indent="-1143000" lvl="0" marL="1143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Char char="•"/>
            </a:pPr>
            <a:r>
              <a:rPr lang="en-U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CV And a Cover Letter?</a:t>
            </a:r>
            <a:endParaRPr/>
          </a:p>
          <a:p>
            <a:pPr indent="-1143000" lvl="0" marL="1143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Char char="•"/>
            </a:pPr>
            <a:r>
              <a:rPr lang="en-U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do we write in a cover letter?</a:t>
            </a:r>
            <a:endParaRPr sz="7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>
            <p:ph type="title"/>
          </p:nvPr>
        </p:nvSpPr>
        <p:spPr>
          <a:xfrm>
            <a:off x="4403700" y="3169748"/>
            <a:ext cx="94806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 txBox="1"/>
          <p:nvPr>
            <p:ph idx="1" type="subTitle"/>
          </p:nvPr>
        </p:nvSpPr>
        <p:spPr>
          <a:xfrm>
            <a:off x="4403850" y="4855852"/>
            <a:ext cx="94806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221" name="Google Shape;2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737986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67577"/>
            <a:ext cx="18288000" cy="884728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 txBox="1"/>
          <p:nvPr>
            <p:ph type="ctrTitle"/>
          </p:nvPr>
        </p:nvSpPr>
        <p:spPr>
          <a:xfrm>
            <a:off x="4038600" y="43211"/>
            <a:ext cx="9951530" cy="1124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600"/>
              <a:buFont typeface="Calibri"/>
              <a:buNone/>
            </a:pPr>
            <a:r>
              <a:rPr b="1" lang="en-US" sz="6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How to write a cover letter</a:t>
            </a:r>
            <a:endParaRPr/>
          </a:p>
        </p:txBody>
      </p:sp>
      <p:sp>
        <p:nvSpPr>
          <p:cNvPr id="228" name="Google Shape;228;p12"/>
          <p:cNvSpPr txBox="1"/>
          <p:nvPr>
            <p:ph idx="1" type="subTitle"/>
          </p:nvPr>
        </p:nvSpPr>
        <p:spPr>
          <a:xfrm>
            <a:off x="2409782" y="11411362"/>
            <a:ext cx="8898600" cy="1645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/>
          <p:nvPr>
            <p:ph type="ctrTitle"/>
          </p:nvPr>
        </p:nvSpPr>
        <p:spPr>
          <a:xfrm>
            <a:off x="3392276" y="781650"/>
            <a:ext cx="88986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7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Useful expressions</a:t>
            </a:r>
            <a:br>
              <a:rPr lang="en-US" sz="72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7200">
                <a:latin typeface="Calibri"/>
                <a:ea typeface="Calibri"/>
                <a:cs typeface="Calibri"/>
                <a:sym typeface="Calibri"/>
              </a:rPr>
              <a:t>Play the game</a:t>
            </a:r>
            <a:br>
              <a:rPr lang="en-US" sz="7200">
                <a:latin typeface="Calibri"/>
                <a:ea typeface="Calibri"/>
                <a:cs typeface="Calibri"/>
                <a:sym typeface="Calibri"/>
              </a:rPr>
            </a:b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>
            <p:ph idx="1" type="subTitle"/>
          </p:nvPr>
        </p:nvSpPr>
        <p:spPr>
          <a:xfrm>
            <a:off x="4659443" y="9182100"/>
            <a:ext cx="837496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https://wordwall.net/resource/70272728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648200" y="2857500"/>
            <a:ext cx="7739786" cy="5868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  Description automatically generated" id="236" name="Google Shape;23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2063" y="-64311"/>
            <a:ext cx="2512682" cy="1205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94744" y="-222587"/>
            <a:ext cx="3493256" cy="1364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" y="69333"/>
            <a:ext cx="3582406" cy="107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/>
          <p:nvPr>
            <p:ph idx="1" type="subTitle"/>
          </p:nvPr>
        </p:nvSpPr>
        <p:spPr>
          <a:xfrm>
            <a:off x="3549928" y="9398667"/>
            <a:ext cx="88986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https://wordwall.net/resource/66726978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44" name="Google Shape;2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971800" y="2367790"/>
            <a:ext cx="9840968" cy="710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  Description automatically generated" id="245" name="Google Shape;2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2063" y="-64311"/>
            <a:ext cx="2512682" cy="1205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94744" y="-222587"/>
            <a:ext cx="3493256" cy="1364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" y="69333"/>
            <a:ext cx="3582406" cy="107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4"/>
          <p:cNvSpPr txBox="1"/>
          <p:nvPr>
            <p:ph type="ctrTitle"/>
          </p:nvPr>
        </p:nvSpPr>
        <p:spPr>
          <a:xfrm>
            <a:off x="3392276" y="113992"/>
            <a:ext cx="88986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72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7200">
                <a:latin typeface="Calibri"/>
                <a:ea typeface="Calibri"/>
                <a:cs typeface="Calibri"/>
                <a:sym typeface="Calibri"/>
              </a:rPr>
              <a:t>Play the game</a:t>
            </a:r>
            <a:br>
              <a:rPr lang="en-US" sz="7200">
                <a:latin typeface="Calibri"/>
                <a:ea typeface="Calibri"/>
                <a:cs typeface="Calibri"/>
                <a:sym typeface="Calibri"/>
              </a:rPr>
            </a:b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/>
          <p:nvPr>
            <p:ph type="title"/>
          </p:nvPr>
        </p:nvSpPr>
        <p:spPr>
          <a:xfrm>
            <a:off x="457200" y="274638"/>
            <a:ext cx="164592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Let’s analyze this cover letter </a:t>
            </a:r>
            <a:endParaRPr b="1" sz="6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 txBox="1"/>
          <p:nvPr>
            <p:ph idx="1" type="body"/>
          </p:nvPr>
        </p:nvSpPr>
        <p:spPr>
          <a:xfrm>
            <a:off x="304800" y="1333500"/>
            <a:ext cx="17449800" cy="841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Dear Hiring Manager,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 am writing to express my keen interest in the </a:t>
            </a:r>
            <a:r>
              <a:rPr b="1" lang="en-US" sz="2400"/>
              <a:t>Penetration Testing</a:t>
            </a:r>
            <a:r>
              <a:rPr lang="en-US" sz="2400"/>
              <a:t> position at your company. With a background in web development and a growing expertise in cybersecurity, I am eager to apply my technical skills and problem-solving abilities to contribute effectively to your team.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Previously, as a </a:t>
            </a:r>
            <a:r>
              <a:rPr b="1" lang="en-US" sz="2400"/>
              <a:t>Web Developer at Bardy</a:t>
            </a:r>
            <a:r>
              <a:rPr lang="en-US" sz="2400"/>
              <a:t>, I played a key role in building and maintaining responsive applications, implementing frontend features based on user needs, and optimizing performance. Additionally, my work as a </a:t>
            </a:r>
            <a:r>
              <a:rPr b="1" lang="en-US" sz="2400"/>
              <a:t>Freelance Full-Stack Developer</a:t>
            </a:r>
            <a:r>
              <a:rPr lang="en-US" sz="2400"/>
              <a:t> has strengthened my ability to design and secure RESTful APIs, conduct security audits, and implement authentication mechanisms.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🔹 </a:t>
            </a:r>
            <a:r>
              <a:rPr b="1" lang="en-US" sz="2400"/>
              <a:t>Example (STAR Method):</a:t>
            </a:r>
            <a:br>
              <a:rPr lang="en-US" sz="2400"/>
            </a:br>
            <a:r>
              <a:rPr lang="en-US" sz="2400"/>
              <a:t>While working on a client’s e-commerce platform, our team discovered a major </a:t>
            </a:r>
            <a:r>
              <a:rPr b="1" lang="en-US" sz="2400"/>
              <a:t>security vulnerability</a:t>
            </a:r>
            <a:r>
              <a:rPr lang="en-US" sz="2400"/>
              <a:t> in the payment gateway just days before launch (Situation). I was </a:t>
            </a:r>
            <a:r>
              <a:rPr b="1" lang="en-US" sz="2400"/>
              <a:t>tasked</a:t>
            </a:r>
            <a:r>
              <a:rPr lang="en-US" sz="2400"/>
              <a:t> with identifying and resolving the issue under tight time constraints (Task). I immediately conducted a penetration test, traced the vulnerability to an insecure API endpoint, and implemented a secure token-based authentication system (Action). As a </a:t>
            </a:r>
            <a:r>
              <a:rPr b="1" lang="en-US" sz="2400"/>
              <a:t>result</a:t>
            </a:r>
            <a:r>
              <a:rPr lang="en-US" sz="2400"/>
              <a:t>, we eliminated the vulnerability before release, safeguarded customer data, and gained positive feedback from both the client and management (Result).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Beyond development, I am deeply passionate about </a:t>
            </a:r>
            <a:r>
              <a:rPr b="1" lang="en-US" sz="2400"/>
              <a:t>cybersecurity and penetration testing</a:t>
            </a:r>
            <a:r>
              <a:rPr lang="en-US" sz="2400"/>
              <a:t>. Currently, I am expanding my expertise in </a:t>
            </a:r>
            <a:r>
              <a:rPr b="1" lang="en-US" sz="2400"/>
              <a:t>ethical hacking, vulnerability assessment, and network security</a:t>
            </a:r>
            <a:r>
              <a:rPr lang="en-US" sz="2400"/>
              <a:t>. My </a:t>
            </a:r>
            <a:r>
              <a:rPr b="1" lang="en-US" sz="2400"/>
              <a:t>graduation project</a:t>
            </a:r>
            <a:r>
              <a:rPr lang="en-US" sz="2400"/>
              <a:t>, an </a:t>
            </a:r>
            <a:r>
              <a:rPr i="1" lang="en-US" sz="2400"/>
              <a:t>AI-Powered Security Solution for Web Applications</a:t>
            </a:r>
            <a:r>
              <a:rPr lang="en-US" sz="2400"/>
              <a:t>, reflects my commitment to building innovative, security-driven systems by integrating machine learning for threat detection.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 am eager to bring my technical skills, problem-solving mindset, and security-conscious approach to your organization. I would welcome the opportunity to discuss how my experience and passion align with your needs.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Thank you for your time and consideration. I look forward to your response.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Sincerely,</a:t>
            </a:r>
            <a:br>
              <a:rPr lang="en-US" sz="2400"/>
            </a:br>
            <a:r>
              <a:rPr lang="en-US" sz="2400"/>
              <a:t>[Your Name]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/>
          <p:nvPr>
            <p:ph idx="1" type="subTitle"/>
          </p:nvPr>
        </p:nvSpPr>
        <p:spPr>
          <a:xfrm>
            <a:off x="1883110" y="3229664"/>
            <a:ext cx="13995108" cy="23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0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cover letter to attach to the CV you created before.</a:t>
            </a:r>
            <a:endParaRPr/>
          </a:p>
        </p:txBody>
      </p:sp>
      <p:pic>
        <p:nvPicPr>
          <p:cNvPr descr="A picture containing text  Description automatically generated" id="260" name="Google Shape;2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2063" y="-64311"/>
            <a:ext cx="2512682" cy="1205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94744" y="-222587"/>
            <a:ext cx="3493256" cy="1364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" y="69333"/>
            <a:ext cx="3582406" cy="107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6"/>
          <p:cNvSpPr txBox="1"/>
          <p:nvPr/>
        </p:nvSpPr>
        <p:spPr>
          <a:xfrm>
            <a:off x="4816931" y="467031"/>
            <a:ext cx="6663266" cy="1323439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Task </a:t>
            </a:r>
            <a:endParaRPr/>
          </a:p>
        </p:txBody>
      </p:sp>
      <p:pic>
        <p:nvPicPr>
          <p:cNvPr id="264" name="Google Shape;26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2764" y="5791200"/>
            <a:ext cx="4495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 flipH="1" rot="-5400000">
            <a:off x="3999926" y="-3999282"/>
            <a:ext cx="10287000" cy="1828685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244061"/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 flipH="1" rot="10800000">
            <a:off x="-3466" y="0"/>
            <a:ext cx="13606268" cy="10286358"/>
          </a:xfrm>
          <a:prstGeom prst="rect">
            <a:avLst/>
          </a:prstGeom>
          <a:gradFill>
            <a:gsLst>
              <a:gs pos="0">
                <a:srgbClr val="000000">
                  <a:alpha val="51764"/>
                </a:srgbClr>
              </a:gs>
              <a:gs pos="8000">
                <a:srgbClr val="000000">
                  <a:alpha val="51764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 flipH="1" rot="-5400000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rgbClr val="92CCDC">
                  <a:alpha val="0"/>
                </a:srgbClr>
              </a:gs>
              <a:gs pos="100000">
                <a:srgbClr val="000000">
                  <a:alpha val="45882"/>
                </a:srgbClr>
              </a:gs>
            </a:gsLst>
            <a:lin ang="1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ank You Images – Browse 2,148,571 Stock Photos, Vectors, and Video |  Adobe Stock" id="273" name="Google Shape;273;p17"/>
          <p:cNvPicPr preferRelativeResize="0"/>
          <p:nvPr/>
        </p:nvPicPr>
        <p:blipFill rotWithShape="1">
          <a:blip r:embed="rId3">
            <a:alphaModFix/>
          </a:blip>
          <a:srcRect b="6306" l="0" r="0" t="0"/>
          <a:stretch/>
        </p:blipFill>
        <p:spPr>
          <a:xfrm>
            <a:off x="685800" y="685800"/>
            <a:ext cx="16916400" cy="89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Ghada AboulHassan</dc:creator>
</cp:coreProperties>
</file>